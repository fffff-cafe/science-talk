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3A5B"/>
        </a:solidFill>
      </p:bgPr>
    </p:bg>
    <p:spTree>
      <p:nvGrpSpPr>
        <p:cNvPr id="1" name=""/>
        <p:cNvGrpSpPr/>
        <p:nvPr/>
      </p:nvGrpSpPr>
      <p:grpSpPr>
        <a:xfrm>
          <a:off x="0" y="0"/>
          <a:ext cx="0" cy="0"/>
          <a:chOff x="0" y="0"/>
          <a:chExt cx="0" cy="0"/>
        </a:xfrm>
      </p:grpSpPr>
      <p:sp>
        <p:nvSpPr>
          <p:cNvPr id="2" name="Text 0"/>
          <p:cNvSpPr/>
          <p:nvPr/>
        </p:nvSpPr>
        <p:spPr>
          <a:xfrm>
            <a:off x="457200" y="1371600"/>
            <a:ext cx="8229600" cy="548640"/>
          </a:xfrm>
          <a:prstGeom prst="rect">
            <a:avLst/>
          </a:prstGeom>
          <a:noFill/>
          <a:ln/>
        </p:spPr>
        <p:txBody>
          <a:bodyPr wrap="square" rtlCol="0" anchor="ctr"/>
          <a:lstStyle/>
          <a:p>
            <a:pPr algn="ctr" indent="0" marL="0">
              <a:buNone/>
            </a:pPr>
            <a:r>
              <a:rPr lang="en-US" sz="2400" dirty="0">
                <a:solidFill>
                  <a:srgbClr val="D4A85A"/>
                </a:solidFill>
                <a:latin typeface="Georgia" pitchFamily="34" charset="0"/>
                <a:ea typeface="Georgia" pitchFamily="34" charset="-122"/>
                <a:cs typeface="Georgia" pitchFamily="34" charset="-120"/>
              </a:rPr>
              <a:t>第9章</a:t>
            </a:r>
            <a:endParaRPr lang="en-US" sz="2400" dirty="0"/>
          </a:p>
        </p:txBody>
      </p:sp>
      <p:sp>
        <p:nvSpPr>
          <p:cNvPr id="3" name="Text 1"/>
          <p:cNvSpPr/>
          <p:nvPr/>
        </p:nvSpPr>
        <p:spPr>
          <a:xfrm>
            <a:off x="457200" y="1920240"/>
            <a:ext cx="8229600" cy="109728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おわりに</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——いくつかの難問</a:t>
            </a:r>
            <a:endParaRPr lang="en-US" sz="3600" dirty="0"/>
          </a:p>
        </p:txBody>
      </p:sp>
      <p:sp>
        <p:nvSpPr>
          <p:cNvPr id="4" name="Shape 2"/>
          <p:cNvSpPr/>
          <p:nvPr/>
        </p:nvSpPr>
        <p:spPr>
          <a:xfrm>
            <a:off x="3200400" y="3108960"/>
            <a:ext cx="2743200" cy="36576"/>
          </a:xfrm>
          <a:prstGeom prst="rect">
            <a:avLst/>
          </a:prstGeom>
          <a:solidFill>
            <a:srgbClr val="D4A85A"/>
          </a:solidFill>
          <a:ln/>
        </p:spPr>
      </p:sp>
      <p:sp>
        <p:nvSpPr>
          <p:cNvPr id="5" name="Text 3"/>
          <p:cNvSpPr/>
          <p:nvPr/>
        </p:nvSpPr>
        <p:spPr>
          <a:xfrm>
            <a:off x="457200" y="3291840"/>
            <a:ext cx="8229600" cy="548640"/>
          </a:xfrm>
          <a:prstGeom prst="rect">
            <a:avLst/>
          </a:prstGeom>
          <a:noFill/>
          <a:ln/>
        </p:spPr>
        <p:txBody>
          <a:bodyPr wrap="square" rtlCol="0" anchor="ctr"/>
          <a:lstStyle/>
          <a:p>
            <a:pPr algn="ctr" indent="0" marL="0">
              <a:buNone/>
            </a:pPr>
            <a:r>
              <a:rPr lang="en-US" sz="1800" i="1" dirty="0">
                <a:solidFill>
                  <a:srgbClr val="FFFFFF"/>
                </a:solidFill>
                <a:latin typeface="Georgia" pitchFamily="34" charset="0"/>
                <a:ea typeface="Georgia" pitchFamily="34" charset="-122"/>
                <a:cs typeface="Georgia" pitchFamily="34" charset="-120"/>
              </a:rPr>
              <a:t>進化心理学の限界と未解決の謎</a:t>
            </a:r>
            <a:endParaRPr lang="en-US" sz="1800" dirty="0"/>
          </a:p>
        </p:txBody>
      </p:sp>
      <p:sp>
        <p:nvSpPr>
          <p:cNvPr id="6" name="Text 4"/>
          <p:cNvSpPr/>
          <p:nvPr/>
        </p:nvSpPr>
        <p:spPr>
          <a:xfrm>
            <a:off x="457200" y="4663440"/>
            <a:ext cx="8229600" cy="365760"/>
          </a:xfrm>
          <a:prstGeom prst="rect">
            <a:avLst/>
          </a:prstGeom>
          <a:noFill/>
          <a:ln/>
        </p:spPr>
        <p:txBody>
          <a:bodyPr wrap="square" rtlCol="0" anchor="ctr"/>
          <a:lstStyle/>
          <a:p>
            <a:pPr algn="ctr" indent="0" marL="0">
              <a:buNone/>
            </a:pPr>
            <a:r>
              <a:rPr lang="en-US" sz="1000" dirty="0">
                <a:solidFill>
                  <a:srgbClr val="B4C7D9"/>
                </a:solidFill>
                <a:latin typeface="Calibri" pitchFamily="34" charset="0"/>
                <a:ea typeface="Calibri" pitchFamily="34" charset="-122"/>
                <a:cs typeface="Calibri" pitchFamily="34" charset="-120"/>
              </a:rPr>
              <a:t>出典：アラン・S・ミラー、サトシ・カナザワ『進化心理学から考えるホモサピエンス』</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3A5B"/>
                </a:solidFill>
                <a:latin typeface="Georgia" pitchFamily="34" charset="0"/>
                <a:ea typeface="Georgia" pitchFamily="34" charset="-122"/>
                <a:cs typeface="Georgia" pitchFamily="34" charset="-120"/>
              </a:rPr>
              <a:t>本章で扱うテーマ</a:t>
            </a:r>
            <a:endParaRPr lang="en-US" sz="2800" dirty="0"/>
          </a:p>
        </p:txBody>
      </p:sp>
      <p:sp>
        <p:nvSpPr>
          <p:cNvPr id="3" name="Shape 1"/>
          <p:cNvSpPr/>
          <p:nvPr/>
        </p:nvSpPr>
        <p:spPr>
          <a:xfrm>
            <a:off x="457200" y="868680"/>
            <a:ext cx="1371600" cy="45720"/>
          </a:xfrm>
          <a:prstGeom prst="rect">
            <a:avLst/>
          </a:prstGeom>
          <a:solidFill>
            <a:srgbClr val="D4A85A"/>
          </a:solidFill>
          <a:ln/>
        </p:spPr>
      </p:sp>
      <p:sp>
        <p:nvSpPr>
          <p:cNvPr id="4" name="Shape 2"/>
          <p:cNvSpPr/>
          <p:nvPr/>
        </p:nvSpPr>
        <p:spPr>
          <a:xfrm>
            <a:off x="457200" y="1097280"/>
            <a:ext cx="8229600" cy="731520"/>
          </a:xfrm>
          <a:prstGeom prst="rect">
            <a:avLst/>
          </a:prstGeom>
          <a:solidFill>
            <a:srgbClr val="2B3A5B"/>
          </a:solidFill>
          <a:ln/>
        </p:spPr>
      </p:sp>
      <p:sp>
        <p:nvSpPr>
          <p:cNvPr id="5" name="Text 3"/>
          <p:cNvSpPr/>
          <p:nvPr/>
        </p:nvSpPr>
        <p:spPr>
          <a:xfrm>
            <a:off x="640080" y="1234440"/>
            <a:ext cx="7863840" cy="45720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進化心理学が「答えを出せない」問いを検証する</a:t>
            </a:r>
            <a:endParaRPr lang="en-US" sz="2000" dirty="0"/>
          </a:p>
        </p:txBody>
      </p:sp>
      <p:sp>
        <p:nvSpPr>
          <p:cNvPr id="6" name="Shape 4"/>
          <p:cNvSpPr/>
          <p:nvPr/>
        </p:nvSpPr>
        <p:spPr>
          <a:xfrm>
            <a:off x="457200" y="2011680"/>
            <a:ext cx="109728" cy="109728"/>
          </a:xfrm>
          <a:prstGeom prst="ellipse">
            <a:avLst/>
          </a:prstGeom>
          <a:solidFill>
            <a:srgbClr val="D4A85A"/>
          </a:solidFill>
          <a:ln/>
        </p:spPr>
      </p:sp>
      <p:sp>
        <p:nvSpPr>
          <p:cNvPr id="7" name="Text 5"/>
          <p:cNvSpPr/>
          <p:nvPr/>
        </p:nvSpPr>
        <p:spPr>
          <a:xfrm>
            <a:off x="685800" y="1965960"/>
            <a:ext cx="8001000" cy="457200"/>
          </a:xfrm>
          <a:prstGeom prst="rect">
            <a:avLst/>
          </a:prstGeom>
          <a:noFill/>
          <a:ln/>
        </p:spPr>
        <p:txBody>
          <a:bodyPr wrap="square" rtlCol="0" anchor="ctr"/>
          <a:lstStyle/>
          <a:p>
            <a:pPr indent="0" marL="0">
              <a:buNone/>
            </a:pPr>
            <a:r>
              <a:rPr lang="en-US" sz="1500" dirty="0">
                <a:solidFill>
                  <a:srgbClr val="333333"/>
                </a:solidFill>
                <a:latin typeface="Calibri" pitchFamily="34" charset="0"/>
                <a:ea typeface="Calibri" pitchFamily="34" charset="-122"/>
                <a:cs typeface="Calibri" pitchFamily="34" charset="-120"/>
              </a:rPr>
              <a:t>これまでの章で様々な人間行動を進化心理学の視点から解説してきた</a:t>
            </a:r>
            <a:endParaRPr lang="en-US" sz="1500" dirty="0"/>
          </a:p>
        </p:txBody>
      </p:sp>
      <p:sp>
        <p:nvSpPr>
          <p:cNvPr id="8" name="Shape 6"/>
          <p:cNvSpPr/>
          <p:nvPr/>
        </p:nvSpPr>
        <p:spPr>
          <a:xfrm>
            <a:off x="457200" y="2651760"/>
            <a:ext cx="109728" cy="109728"/>
          </a:xfrm>
          <a:prstGeom prst="ellipse">
            <a:avLst/>
          </a:prstGeom>
          <a:solidFill>
            <a:srgbClr val="D4A85A"/>
          </a:solidFill>
          <a:ln/>
        </p:spPr>
      </p:sp>
      <p:sp>
        <p:nvSpPr>
          <p:cNvPr id="9" name="Text 7"/>
          <p:cNvSpPr/>
          <p:nvPr/>
        </p:nvSpPr>
        <p:spPr>
          <a:xfrm>
            <a:off x="685800" y="2606040"/>
            <a:ext cx="8001000" cy="457200"/>
          </a:xfrm>
          <a:prstGeom prst="rect">
            <a:avLst/>
          </a:prstGeom>
          <a:noFill/>
          <a:ln/>
        </p:spPr>
        <p:txBody>
          <a:bodyPr wrap="square" rtlCol="0" anchor="ctr"/>
          <a:lstStyle/>
          <a:p>
            <a:pPr indent="0" marL="0">
              <a:buNone/>
            </a:pPr>
            <a:r>
              <a:rPr lang="en-US" sz="1500" dirty="0">
                <a:solidFill>
                  <a:srgbClr val="333333"/>
                </a:solidFill>
                <a:latin typeface="Calibri" pitchFamily="34" charset="0"/>
                <a:ea typeface="Calibri" pitchFamily="34" charset="-122"/>
                <a:cs typeface="Calibri" pitchFamily="34" charset="-120"/>
              </a:rPr>
              <a:t>しかし、進化心理学にも説明が困難な現象が存在する</a:t>
            </a:r>
            <a:endParaRPr lang="en-US" sz="1500" dirty="0"/>
          </a:p>
        </p:txBody>
      </p:sp>
      <p:sp>
        <p:nvSpPr>
          <p:cNvPr id="10" name="Shape 8"/>
          <p:cNvSpPr/>
          <p:nvPr/>
        </p:nvSpPr>
        <p:spPr>
          <a:xfrm>
            <a:off x="457200" y="3291840"/>
            <a:ext cx="109728" cy="109728"/>
          </a:xfrm>
          <a:prstGeom prst="ellipse">
            <a:avLst/>
          </a:prstGeom>
          <a:solidFill>
            <a:srgbClr val="D4A85A"/>
          </a:solidFill>
          <a:ln/>
        </p:spPr>
      </p:sp>
      <p:sp>
        <p:nvSpPr>
          <p:cNvPr id="11" name="Text 9"/>
          <p:cNvSpPr/>
          <p:nvPr/>
        </p:nvSpPr>
        <p:spPr>
          <a:xfrm>
            <a:off x="685800" y="3246120"/>
            <a:ext cx="8001000" cy="457200"/>
          </a:xfrm>
          <a:prstGeom prst="rect">
            <a:avLst/>
          </a:prstGeom>
          <a:noFill/>
          <a:ln/>
        </p:spPr>
        <p:txBody>
          <a:bodyPr wrap="square" rtlCol="0" anchor="ctr"/>
          <a:lstStyle/>
          <a:p>
            <a:pPr indent="0" marL="0">
              <a:buNone/>
            </a:pPr>
            <a:r>
              <a:rPr lang="en-US" sz="1500" dirty="0">
                <a:solidFill>
                  <a:srgbClr val="333333"/>
                </a:solidFill>
                <a:latin typeface="Calibri" pitchFamily="34" charset="0"/>
                <a:ea typeface="Calibri" pitchFamily="34" charset="-122"/>
                <a:cs typeface="Calibri" pitchFamily="34" charset="-120"/>
              </a:rPr>
              <a:t>ロバート・ライト（1994）が提示した「6つの難問」を中心に検証</a:t>
            </a:r>
            <a:endParaRPr lang="en-US" sz="1500" dirty="0"/>
          </a:p>
        </p:txBody>
      </p:sp>
      <p:sp>
        <p:nvSpPr>
          <p:cNvPr id="12" name="Shape 10"/>
          <p:cNvSpPr/>
          <p:nvPr/>
        </p:nvSpPr>
        <p:spPr>
          <a:xfrm>
            <a:off x="457200" y="3931920"/>
            <a:ext cx="109728" cy="109728"/>
          </a:xfrm>
          <a:prstGeom prst="ellipse">
            <a:avLst/>
          </a:prstGeom>
          <a:solidFill>
            <a:srgbClr val="D4A85A"/>
          </a:solidFill>
          <a:ln/>
        </p:spPr>
      </p:sp>
      <p:sp>
        <p:nvSpPr>
          <p:cNvPr id="13" name="Text 11"/>
          <p:cNvSpPr/>
          <p:nvPr/>
        </p:nvSpPr>
        <p:spPr>
          <a:xfrm>
            <a:off x="685800" y="3886200"/>
            <a:ext cx="8001000" cy="457200"/>
          </a:xfrm>
          <a:prstGeom prst="rect">
            <a:avLst/>
          </a:prstGeom>
          <a:noFill/>
          <a:ln/>
        </p:spPr>
        <p:txBody>
          <a:bodyPr wrap="square" rtlCol="0" anchor="ctr"/>
          <a:lstStyle/>
          <a:p>
            <a:pPr indent="0" marL="0">
              <a:buNone/>
            </a:pPr>
            <a:r>
              <a:rPr lang="en-US" sz="1500" dirty="0">
                <a:solidFill>
                  <a:srgbClr val="333333"/>
                </a:solidFill>
                <a:latin typeface="Calibri" pitchFamily="34" charset="0"/>
                <a:ea typeface="Calibri" pitchFamily="34" charset="-122"/>
                <a:cs typeface="Calibri" pitchFamily="34" charset="-120"/>
              </a:rPr>
              <a:t>進化心理学の限界を認識しつつ、学問としての発展を展望する</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3A5B"/>
                </a:solidFill>
                <a:latin typeface="Georgia" pitchFamily="34" charset="0"/>
                <a:ea typeface="Georgia" pitchFamily="34" charset="-122"/>
                <a:cs typeface="Georgia" pitchFamily="34" charset="-120"/>
              </a:rPr>
              <a:t>ライトの6つの難問（1-3）</a:t>
            </a:r>
            <a:endParaRPr lang="en-US" sz="2800" dirty="0"/>
          </a:p>
        </p:txBody>
      </p:sp>
      <p:sp>
        <p:nvSpPr>
          <p:cNvPr id="3" name="Shape 1"/>
          <p:cNvSpPr/>
          <p:nvPr/>
        </p:nvSpPr>
        <p:spPr>
          <a:xfrm>
            <a:off x="457200" y="868680"/>
            <a:ext cx="1371600" cy="45720"/>
          </a:xfrm>
          <a:prstGeom prst="rect">
            <a:avLst/>
          </a:prstGeom>
          <a:solidFill>
            <a:srgbClr val="D4A85A"/>
          </a:solidFill>
          <a:ln/>
        </p:spPr>
      </p:sp>
      <p:sp>
        <p:nvSpPr>
          <p:cNvPr id="4" name="Shape 2"/>
          <p:cNvSpPr/>
          <p:nvPr/>
        </p:nvSpPr>
        <p:spPr>
          <a:xfrm>
            <a:off x="457200" y="1051560"/>
            <a:ext cx="8229600" cy="457200"/>
          </a:xfrm>
          <a:prstGeom prst="rect">
            <a:avLst/>
          </a:prstGeom>
          <a:solidFill>
            <a:srgbClr val="E8F0F5"/>
          </a:solidFill>
          <a:ln/>
        </p:spPr>
      </p:sp>
      <p:sp>
        <p:nvSpPr>
          <p:cNvPr id="5" name="Text 3"/>
          <p:cNvSpPr/>
          <p:nvPr/>
        </p:nvSpPr>
        <p:spPr>
          <a:xfrm>
            <a:off x="640080" y="1143000"/>
            <a:ext cx="7863840" cy="274320"/>
          </a:xfrm>
          <a:prstGeom prst="rect">
            <a:avLst/>
          </a:prstGeom>
          <a:noFill/>
          <a:ln/>
        </p:spPr>
        <p:txBody>
          <a:bodyPr wrap="square" rtlCol="0" anchor="ctr"/>
          <a:lstStyle/>
          <a:p>
            <a:pPr algn="ctr" indent="0" marL="0">
              <a:buNone/>
            </a:pPr>
            <a:r>
              <a:rPr lang="en-US" sz="1200" i="1" dirty="0">
                <a:solidFill>
                  <a:srgbClr val="2B3A5B"/>
                </a:solidFill>
                <a:latin typeface="Calibri" pitchFamily="34" charset="0"/>
                <a:ea typeface="Calibri" pitchFamily="34" charset="-122"/>
                <a:cs typeface="Calibri" pitchFamily="34" charset="-120"/>
              </a:rPr>
              <a:t>ロバート・ライト『モラル・アニマル』（1994年）で提示された進化心理学の未解決問題</a:t>
            </a:r>
            <a:endParaRPr lang="en-US" sz="1200" dirty="0"/>
          </a:p>
        </p:txBody>
      </p:sp>
      <p:sp>
        <p:nvSpPr>
          <p:cNvPr id="6" name="Shape 4"/>
          <p:cNvSpPr/>
          <p:nvPr/>
        </p:nvSpPr>
        <p:spPr>
          <a:xfrm>
            <a:off x="457200" y="1645920"/>
            <a:ext cx="457200" cy="457200"/>
          </a:xfrm>
          <a:prstGeom prst="ellipse">
            <a:avLst/>
          </a:prstGeom>
          <a:solidFill>
            <a:srgbClr val="D4A85A"/>
          </a:solidFill>
          <a:ln/>
        </p:spPr>
      </p:sp>
      <p:sp>
        <p:nvSpPr>
          <p:cNvPr id="7" name="Text 5"/>
          <p:cNvSpPr/>
          <p:nvPr/>
        </p:nvSpPr>
        <p:spPr>
          <a:xfrm>
            <a:off x="457200" y="164592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051560" y="1645920"/>
            <a:ext cx="7635240" cy="365760"/>
          </a:xfrm>
          <a:prstGeom prst="rect">
            <a:avLst/>
          </a:prstGeom>
          <a:noFill/>
          <a:ln/>
        </p:spPr>
        <p:txBody>
          <a:bodyPr wrap="square" rtlCol="0" anchor="ctr"/>
          <a:lstStyle/>
          <a:p>
            <a:pPr indent="0" marL="0">
              <a:buNone/>
            </a:pPr>
            <a:r>
              <a:rPr lang="en-US" sz="1600" b="1" dirty="0">
                <a:solidFill>
                  <a:srgbClr val="2B3A5B"/>
                </a:solidFill>
                <a:latin typeface="Georgia" pitchFamily="34" charset="0"/>
                <a:ea typeface="Georgia" pitchFamily="34" charset="-122"/>
                <a:cs typeface="Georgia" pitchFamily="34" charset="-120"/>
              </a:rPr>
              <a:t>同性愛をどう説明するか</a:t>
            </a:r>
            <a:endParaRPr lang="en-US" sz="1600" dirty="0"/>
          </a:p>
        </p:txBody>
      </p:sp>
      <p:sp>
        <p:nvSpPr>
          <p:cNvPr id="9" name="Text 7"/>
          <p:cNvSpPr/>
          <p:nvPr/>
        </p:nvSpPr>
        <p:spPr>
          <a:xfrm>
            <a:off x="1051560" y="2011680"/>
            <a:ext cx="7635240" cy="640080"/>
          </a:xfrm>
          <a:prstGeom prst="rect">
            <a:avLst/>
          </a:prstGeom>
          <a:noFill/>
          <a:ln/>
        </p:spPr>
        <p:txBody>
          <a:bodyPr wrap="square" rtlCol="0" anchor="t"/>
          <a:lstStyle/>
          <a:p>
            <a:pPr indent="0" marL="0">
              <a:buNone/>
            </a:pPr>
            <a:r>
              <a:rPr lang="en-US" sz="1100" dirty="0">
                <a:solidFill>
                  <a:srgbClr val="333333"/>
                </a:solidFill>
                <a:latin typeface="Calibri" pitchFamily="34" charset="0"/>
                <a:ea typeface="Calibri" pitchFamily="34" charset="-122"/>
                <a:cs typeface="Calibri" pitchFamily="34" charset="-120"/>
              </a:rPr>
              <a:t>繁殖成功を重視する進化心理学で、同性愛の存在をどう理解するか？「ゲイ遺伝子」「男好きの姉妹仮説」など複数の仮説があるが決定的説明はない</a:t>
            </a:r>
            <a:endParaRPr lang="en-US" sz="1100" dirty="0"/>
          </a:p>
        </p:txBody>
      </p:sp>
      <p:sp>
        <p:nvSpPr>
          <p:cNvPr id="10" name="Shape 8"/>
          <p:cNvSpPr/>
          <p:nvPr/>
        </p:nvSpPr>
        <p:spPr>
          <a:xfrm>
            <a:off x="457200" y="2697480"/>
            <a:ext cx="457200" cy="457200"/>
          </a:xfrm>
          <a:prstGeom prst="ellipse">
            <a:avLst/>
          </a:prstGeom>
          <a:solidFill>
            <a:srgbClr val="D4A85A"/>
          </a:solidFill>
          <a:ln/>
        </p:spPr>
      </p:sp>
      <p:sp>
        <p:nvSpPr>
          <p:cNvPr id="11" name="Text 9"/>
          <p:cNvSpPr/>
          <p:nvPr/>
        </p:nvSpPr>
        <p:spPr>
          <a:xfrm>
            <a:off x="457200" y="269748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2" name="Text 10"/>
          <p:cNvSpPr/>
          <p:nvPr/>
        </p:nvSpPr>
        <p:spPr>
          <a:xfrm>
            <a:off x="1051560" y="2697480"/>
            <a:ext cx="7635240" cy="365760"/>
          </a:xfrm>
          <a:prstGeom prst="rect">
            <a:avLst/>
          </a:prstGeom>
          <a:noFill/>
          <a:ln/>
        </p:spPr>
        <p:txBody>
          <a:bodyPr wrap="square" rtlCol="0" anchor="ctr"/>
          <a:lstStyle/>
          <a:p>
            <a:pPr indent="0" marL="0">
              <a:buNone/>
            </a:pPr>
            <a:r>
              <a:rPr lang="en-US" sz="1600" b="1" dirty="0">
                <a:solidFill>
                  <a:srgbClr val="2B3A5B"/>
                </a:solidFill>
                <a:latin typeface="Georgia" pitchFamily="34" charset="0"/>
                <a:ea typeface="Georgia" pitchFamily="34" charset="-122"/>
                <a:cs typeface="Georgia" pitchFamily="34" charset="-120"/>
              </a:rPr>
              <a:t>きょうだいでも性格が違うのはなぜか</a:t>
            </a:r>
            <a:endParaRPr lang="en-US" sz="1600" dirty="0"/>
          </a:p>
        </p:txBody>
      </p:sp>
      <p:sp>
        <p:nvSpPr>
          <p:cNvPr id="13" name="Text 11"/>
          <p:cNvSpPr/>
          <p:nvPr/>
        </p:nvSpPr>
        <p:spPr>
          <a:xfrm>
            <a:off x="1051560" y="3063240"/>
            <a:ext cx="7635240" cy="640080"/>
          </a:xfrm>
          <a:prstGeom prst="rect">
            <a:avLst/>
          </a:prstGeom>
          <a:noFill/>
          <a:ln/>
        </p:spPr>
        <p:txBody>
          <a:bodyPr wrap="square" rtlCol="0" anchor="t"/>
          <a:lstStyle/>
          <a:p>
            <a:pPr indent="0" marL="0">
              <a:buNone/>
            </a:pPr>
            <a:r>
              <a:rPr lang="en-US" sz="1100" dirty="0">
                <a:solidFill>
                  <a:srgbClr val="333333"/>
                </a:solidFill>
                <a:latin typeface="Calibri" pitchFamily="34" charset="0"/>
                <a:ea typeface="Calibri" pitchFamily="34" charset="-122"/>
                <a:cs typeface="Calibri" pitchFamily="34" charset="-120"/>
              </a:rPr>
              <a:t>同じ遺伝子を半分共有し、同じ環境で育つきょうだいの性格差を説明できない。サローウェー（出生順序効果）とハリス（同年代の友達の影響）の論争がある</a:t>
            </a:r>
            <a:endParaRPr lang="en-US" sz="1100" dirty="0"/>
          </a:p>
        </p:txBody>
      </p:sp>
      <p:sp>
        <p:nvSpPr>
          <p:cNvPr id="14" name="Shape 12"/>
          <p:cNvSpPr/>
          <p:nvPr/>
        </p:nvSpPr>
        <p:spPr>
          <a:xfrm>
            <a:off x="457200" y="3749040"/>
            <a:ext cx="457200" cy="457200"/>
          </a:xfrm>
          <a:prstGeom prst="ellipse">
            <a:avLst/>
          </a:prstGeom>
          <a:solidFill>
            <a:srgbClr val="D4A85A"/>
          </a:solidFill>
          <a:ln/>
        </p:spPr>
      </p:sp>
      <p:sp>
        <p:nvSpPr>
          <p:cNvPr id="15" name="Text 13"/>
          <p:cNvSpPr/>
          <p:nvPr/>
        </p:nvSpPr>
        <p:spPr>
          <a:xfrm>
            <a:off x="457200" y="374904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051560" y="3749040"/>
            <a:ext cx="7635240" cy="365760"/>
          </a:xfrm>
          <a:prstGeom prst="rect">
            <a:avLst/>
          </a:prstGeom>
          <a:noFill/>
          <a:ln/>
        </p:spPr>
        <p:txBody>
          <a:bodyPr wrap="square" rtlCol="0" anchor="ctr"/>
          <a:lstStyle/>
          <a:p>
            <a:pPr indent="0" marL="0">
              <a:buNone/>
            </a:pPr>
            <a:r>
              <a:rPr lang="en-US" sz="1600" b="1" dirty="0">
                <a:solidFill>
                  <a:srgbClr val="2B3A5B"/>
                </a:solidFill>
                <a:latin typeface="Georgia" pitchFamily="34" charset="0"/>
                <a:ea typeface="Georgia" pitchFamily="34" charset="-122"/>
                <a:cs typeface="Georgia" pitchFamily="34" charset="-120"/>
              </a:rPr>
              <a:t>子供を産まない選択をする人がいるのはなぜか</a:t>
            </a:r>
            <a:endParaRPr lang="en-US" sz="1600" dirty="0"/>
          </a:p>
        </p:txBody>
      </p:sp>
      <p:sp>
        <p:nvSpPr>
          <p:cNvPr id="17" name="Text 15"/>
          <p:cNvSpPr/>
          <p:nvPr/>
        </p:nvSpPr>
        <p:spPr>
          <a:xfrm>
            <a:off x="1051560" y="4114800"/>
            <a:ext cx="7635240" cy="640080"/>
          </a:xfrm>
          <a:prstGeom prst="rect">
            <a:avLst/>
          </a:prstGeom>
          <a:noFill/>
          <a:ln/>
        </p:spPr>
        <p:txBody>
          <a:bodyPr wrap="square" rtlCol="0" anchor="t"/>
          <a:lstStyle/>
          <a:p>
            <a:pPr indent="0" marL="0">
              <a:buNone/>
            </a:pPr>
            <a:r>
              <a:rPr lang="en-US" sz="1100" dirty="0">
                <a:solidFill>
                  <a:srgbClr val="333333"/>
                </a:solidFill>
                <a:latin typeface="Calibri" pitchFamily="34" charset="0"/>
                <a:ea typeface="Calibri" pitchFamily="34" charset="-122"/>
                <a:cs typeface="Calibri" pitchFamily="34" charset="-120"/>
              </a:rPr>
              <a:t>繁殖成功を最大化するはずの人間が、なぜ子供を持たないか、少数しか産まないかを選択するのか？</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3A5B"/>
                </a:solidFill>
                <a:latin typeface="Georgia" pitchFamily="34" charset="0"/>
                <a:ea typeface="Georgia" pitchFamily="34" charset="-122"/>
                <a:cs typeface="Georgia" pitchFamily="34" charset="-120"/>
              </a:rPr>
              <a:t>ライトの6つの難問（4-6）</a:t>
            </a:r>
            <a:endParaRPr lang="en-US" sz="2800" dirty="0"/>
          </a:p>
        </p:txBody>
      </p:sp>
      <p:sp>
        <p:nvSpPr>
          <p:cNvPr id="3" name="Shape 1"/>
          <p:cNvSpPr/>
          <p:nvPr/>
        </p:nvSpPr>
        <p:spPr>
          <a:xfrm>
            <a:off x="457200" y="868680"/>
            <a:ext cx="1371600" cy="45720"/>
          </a:xfrm>
          <a:prstGeom prst="rect">
            <a:avLst/>
          </a:prstGeom>
          <a:solidFill>
            <a:srgbClr val="D4A85A"/>
          </a:solidFill>
          <a:ln/>
        </p:spPr>
      </p:sp>
      <p:sp>
        <p:nvSpPr>
          <p:cNvPr id="4" name="Shape 2"/>
          <p:cNvSpPr/>
          <p:nvPr/>
        </p:nvSpPr>
        <p:spPr>
          <a:xfrm>
            <a:off x="457200" y="1188720"/>
            <a:ext cx="457200" cy="457200"/>
          </a:xfrm>
          <a:prstGeom prst="ellipse">
            <a:avLst/>
          </a:prstGeom>
          <a:solidFill>
            <a:srgbClr val="D4A85A"/>
          </a:solidFill>
          <a:ln/>
        </p:spPr>
      </p:sp>
      <p:sp>
        <p:nvSpPr>
          <p:cNvPr id="5" name="Text 3"/>
          <p:cNvSpPr/>
          <p:nvPr/>
        </p:nvSpPr>
        <p:spPr>
          <a:xfrm>
            <a:off x="457200" y="118872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6" name="Text 4"/>
          <p:cNvSpPr/>
          <p:nvPr/>
        </p:nvSpPr>
        <p:spPr>
          <a:xfrm>
            <a:off x="1051560" y="1188720"/>
            <a:ext cx="7635240" cy="365760"/>
          </a:xfrm>
          <a:prstGeom prst="rect">
            <a:avLst/>
          </a:prstGeom>
          <a:noFill/>
          <a:ln/>
        </p:spPr>
        <p:txBody>
          <a:bodyPr wrap="square" rtlCol="0" anchor="ctr"/>
          <a:lstStyle/>
          <a:p>
            <a:pPr indent="0" marL="0">
              <a:buNone/>
            </a:pPr>
            <a:r>
              <a:rPr lang="en-US" sz="1600" b="1" dirty="0">
                <a:solidFill>
                  <a:srgbClr val="2B3A5B"/>
                </a:solidFill>
                <a:latin typeface="Georgia" pitchFamily="34" charset="0"/>
                <a:ea typeface="Georgia" pitchFamily="34" charset="-122"/>
                <a:cs typeface="Georgia" pitchFamily="34" charset="-120"/>
              </a:rPr>
              <a:t>なぜ人は自殺をするのか</a:t>
            </a:r>
            <a:endParaRPr lang="en-US" sz="1600" dirty="0"/>
          </a:p>
        </p:txBody>
      </p:sp>
      <p:sp>
        <p:nvSpPr>
          <p:cNvPr id="7" name="Text 5"/>
          <p:cNvSpPr/>
          <p:nvPr/>
        </p:nvSpPr>
        <p:spPr>
          <a:xfrm>
            <a:off x="1051560" y="1554480"/>
            <a:ext cx="7635240" cy="777240"/>
          </a:xfrm>
          <a:prstGeom prst="rect">
            <a:avLst/>
          </a:prstGeom>
          <a:noFill/>
          <a:ln/>
        </p:spPr>
        <p:txBody>
          <a:bodyPr wrap="square" rtlCol="0" anchor="t"/>
          <a:lstStyle/>
          <a:p>
            <a:pPr indent="0" marL="0">
              <a:buNone/>
            </a:pPr>
            <a:r>
              <a:rPr lang="en-US" sz="1100" dirty="0">
                <a:solidFill>
                  <a:srgbClr val="333333"/>
                </a:solidFill>
                <a:latin typeface="Calibri" pitchFamily="34" charset="0"/>
                <a:ea typeface="Calibri" pitchFamily="34" charset="-122"/>
                <a:cs typeface="Calibri" pitchFamily="34" charset="-120"/>
              </a:rPr>
              <a:t>自己保存本能に反する自殺行為を進化心理学はうまく説明できない。行動遺伝学による説得力ある仮説も提出されていない</a:t>
            </a:r>
            <a:endParaRPr lang="en-US" sz="1100" dirty="0"/>
          </a:p>
        </p:txBody>
      </p:sp>
      <p:sp>
        <p:nvSpPr>
          <p:cNvPr id="8" name="Shape 6"/>
          <p:cNvSpPr/>
          <p:nvPr/>
        </p:nvSpPr>
        <p:spPr>
          <a:xfrm>
            <a:off x="457200" y="2377440"/>
            <a:ext cx="457200" cy="457200"/>
          </a:xfrm>
          <a:prstGeom prst="ellipse">
            <a:avLst/>
          </a:prstGeom>
          <a:solidFill>
            <a:srgbClr val="D4A85A"/>
          </a:solidFill>
          <a:ln/>
        </p:spPr>
      </p:sp>
      <p:sp>
        <p:nvSpPr>
          <p:cNvPr id="9" name="Text 7"/>
          <p:cNvSpPr/>
          <p:nvPr/>
        </p:nvSpPr>
        <p:spPr>
          <a:xfrm>
            <a:off x="457200" y="237744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10" name="Text 8"/>
          <p:cNvSpPr/>
          <p:nvPr/>
        </p:nvSpPr>
        <p:spPr>
          <a:xfrm>
            <a:off x="1051560" y="2377440"/>
            <a:ext cx="7635240" cy="365760"/>
          </a:xfrm>
          <a:prstGeom prst="rect">
            <a:avLst/>
          </a:prstGeom>
          <a:noFill/>
          <a:ln/>
        </p:spPr>
        <p:txBody>
          <a:bodyPr wrap="square" rtlCol="0" anchor="ctr"/>
          <a:lstStyle/>
          <a:p>
            <a:pPr indent="0" marL="0">
              <a:buNone/>
            </a:pPr>
            <a:r>
              <a:rPr lang="en-US" sz="1600" b="1" dirty="0">
                <a:solidFill>
                  <a:srgbClr val="2B3A5B"/>
                </a:solidFill>
                <a:latin typeface="Georgia" pitchFamily="34" charset="0"/>
                <a:ea typeface="Georgia" pitchFamily="34" charset="-122"/>
                <a:cs typeface="Georgia" pitchFamily="34" charset="-120"/>
              </a:rPr>
              <a:t>なぜ子殺しをする親がいるのか</a:t>
            </a:r>
            <a:endParaRPr lang="en-US" sz="1600" dirty="0"/>
          </a:p>
        </p:txBody>
      </p:sp>
      <p:sp>
        <p:nvSpPr>
          <p:cNvPr id="11" name="Text 9"/>
          <p:cNvSpPr/>
          <p:nvPr/>
        </p:nvSpPr>
        <p:spPr>
          <a:xfrm>
            <a:off x="1051560" y="2743200"/>
            <a:ext cx="7635240" cy="777240"/>
          </a:xfrm>
          <a:prstGeom prst="rect">
            <a:avLst/>
          </a:prstGeom>
          <a:noFill/>
          <a:ln/>
        </p:spPr>
        <p:txBody>
          <a:bodyPr wrap="square" rtlCol="0" anchor="t"/>
          <a:lstStyle/>
          <a:p>
            <a:pPr indent="0" marL="0">
              <a:buNone/>
            </a:pPr>
            <a:r>
              <a:rPr lang="en-US" sz="1100" dirty="0">
                <a:solidFill>
                  <a:srgbClr val="333333"/>
                </a:solidFill>
                <a:latin typeface="Calibri" pitchFamily="34" charset="0"/>
                <a:ea typeface="Calibri" pitchFamily="34" charset="-122"/>
                <a:cs typeface="Calibri" pitchFamily="34" charset="-120"/>
              </a:rPr>
              <a:t>デイリーとウィルソン（1988）が「親の差別的な気遣い」で部分的に説明。義理の親による子殺しは説明できるが、実の親による場合は謎が残る</a:t>
            </a:r>
            <a:endParaRPr lang="en-US" sz="1100" dirty="0"/>
          </a:p>
        </p:txBody>
      </p:sp>
      <p:sp>
        <p:nvSpPr>
          <p:cNvPr id="12" name="Shape 10"/>
          <p:cNvSpPr/>
          <p:nvPr/>
        </p:nvSpPr>
        <p:spPr>
          <a:xfrm>
            <a:off x="457200" y="3566160"/>
            <a:ext cx="457200" cy="457200"/>
          </a:xfrm>
          <a:prstGeom prst="ellipse">
            <a:avLst/>
          </a:prstGeom>
          <a:solidFill>
            <a:srgbClr val="D4A85A"/>
          </a:solidFill>
          <a:ln/>
        </p:spPr>
      </p:sp>
      <p:sp>
        <p:nvSpPr>
          <p:cNvPr id="13" name="Text 11"/>
          <p:cNvSpPr/>
          <p:nvPr/>
        </p:nvSpPr>
        <p:spPr>
          <a:xfrm>
            <a:off x="457200" y="356616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14" name="Text 12"/>
          <p:cNvSpPr/>
          <p:nvPr/>
        </p:nvSpPr>
        <p:spPr>
          <a:xfrm>
            <a:off x="1051560" y="3566160"/>
            <a:ext cx="7635240" cy="365760"/>
          </a:xfrm>
          <a:prstGeom prst="rect">
            <a:avLst/>
          </a:prstGeom>
          <a:noFill/>
          <a:ln/>
        </p:spPr>
        <p:txBody>
          <a:bodyPr wrap="square" rtlCol="0" anchor="ctr"/>
          <a:lstStyle/>
          <a:p>
            <a:pPr indent="0" marL="0">
              <a:buNone/>
            </a:pPr>
            <a:r>
              <a:rPr lang="en-US" sz="1600" b="1" dirty="0">
                <a:solidFill>
                  <a:srgbClr val="2B3A5B"/>
                </a:solidFill>
                <a:latin typeface="Georgia" pitchFamily="34" charset="0"/>
                <a:ea typeface="Georgia" pitchFamily="34" charset="-122"/>
                <a:cs typeface="Georgia" pitchFamily="34" charset="-120"/>
              </a:rPr>
              <a:t>兵士が国のために死ぬのはなぜか</a:t>
            </a:r>
            <a:endParaRPr lang="en-US" sz="1600" dirty="0"/>
          </a:p>
        </p:txBody>
      </p:sp>
      <p:sp>
        <p:nvSpPr>
          <p:cNvPr id="15" name="Text 13"/>
          <p:cNvSpPr/>
          <p:nvPr/>
        </p:nvSpPr>
        <p:spPr>
          <a:xfrm>
            <a:off x="1051560" y="3931920"/>
            <a:ext cx="7635240" cy="777240"/>
          </a:xfrm>
          <a:prstGeom prst="rect">
            <a:avLst/>
          </a:prstGeom>
          <a:noFill/>
          <a:ln/>
        </p:spPr>
        <p:txBody>
          <a:bodyPr wrap="square" rtlCol="0" anchor="t"/>
          <a:lstStyle/>
          <a:p>
            <a:pPr indent="0" marL="0">
              <a:buNone/>
            </a:pPr>
            <a:r>
              <a:rPr lang="en-US" sz="1100" dirty="0">
                <a:solidFill>
                  <a:srgbClr val="333333"/>
                </a:solidFill>
                <a:latin typeface="Calibri" pitchFamily="34" charset="0"/>
                <a:ea typeface="Calibri" pitchFamily="34" charset="-122"/>
                <a:cs typeface="Calibri" pitchFamily="34" charset="-120"/>
              </a:rPr>
              <a:t>国が子供を扶養してくれるから？征服社会の女性をレイプできるから？いずれも説明として不十分。なぜ繁殖戦略として「国のための死」を選ぶのか</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3A5B"/>
                </a:solidFill>
                <a:latin typeface="Georgia" pitchFamily="34" charset="0"/>
                <a:ea typeface="Georgia" pitchFamily="34" charset="-122"/>
                <a:cs typeface="Georgia" pitchFamily="34" charset="-120"/>
              </a:rPr>
              <a:t>6つの難問の回答状況</a:t>
            </a:r>
            <a:endParaRPr lang="en-US" sz="2800" dirty="0"/>
          </a:p>
        </p:txBody>
      </p:sp>
      <p:sp>
        <p:nvSpPr>
          <p:cNvPr id="3" name="Shape 1"/>
          <p:cNvSpPr/>
          <p:nvPr/>
        </p:nvSpPr>
        <p:spPr>
          <a:xfrm>
            <a:off x="457200" y="868680"/>
            <a:ext cx="1371600" cy="45720"/>
          </a:xfrm>
          <a:prstGeom prst="rect">
            <a:avLst/>
          </a:prstGeom>
          <a:solidFill>
            <a:srgbClr val="D4A85A"/>
          </a:solidFill>
          <a:ln/>
        </p:spPr>
      </p:sp>
      <p:sp>
        <p:nvSpPr>
          <p:cNvPr id="4" name="Shape 2"/>
          <p:cNvSpPr/>
          <p:nvPr/>
        </p:nvSpPr>
        <p:spPr>
          <a:xfrm>
            <a:off x="3200400" y="1097280"/>
            <a:ext cx="2743200" cy="914400"/>
          </a:xfrm>
          <a:prstGeom prst="rect">
            <a:avLst/>
          </a:prstGeom>
          <a:solidFill>
            <a:srgbClr val="2B3A5B"/>
          </a:solidFill>
          <a:ln/>
        </p:spPr>
      </p:sp>
      <p:sp>
        <p:nvSpPr>
          <p:cNvPr id="5" name="Text 3"/>
          <p:cNvSpPr/>
          <p:nvPr/>
        </p:nvSpPr>
        <p:spPr>
          <a:xfrm>
            <a:off x="3200400" y="1143000"/>
            <a:ext cx="2743200" cy="320040"/>
          </a:xfrm>
          <a:prstGeom prst="rect">
            <a:avLst/>
          </a:prstGeom>
          <a:noFill/>
          <a:ln/>
        </p:spPr>
        <p:txBody>
          <a:bodyPr wrap="square" rtlCol="0" anchor="ctr"/>
          <a:lstStyle/>
          <a:p>
            <a:pPr algn="ctr" indent="0" marL="0">
              <a:buNone/>
            </a:pPr>
            <a:r>
              <a:rPr lang="en-US" sz="1400" dirty="0">
                <a:solidFill>
                  <a:srgbClr val="D4A85A"/>
                </a:solidFill>
                <a:latin typeface="Calibri" pitchFamily="34" charset="0"/>
                <a:ea typeface="Calibri" pitchFamily="34" charset="-122"/>
                <a:cs typeface="Calibri" pitchFamily="34" charset="-120"/>
              </a:rPr>
              <a:t>スコア</a:t>
            </a:r>
            <a:endParaRPr lang="en-US" sz="1400" dirty="0"/>
          </a:p>
        </p:txBody>
      </p:sp>
      <p:sp>
        <p:nvSpPr>
          <p:cNvPr id="6" name="Text 4"/>
          <p:cNvSpPr/>
          <p:nvPr/>
        </p:nvSpPr>
        <p:spPr>
          <a:xfrm>
            <a:off x="3200400" y="1417320"/>
            <a:ext cx="2743200" cy="5029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3 対 3</a:t>
            </a:r>
            <a:endParaRPr lang="en-US" sz="3600" dirty="0"/>
          </a:p>
        </p:txBody>
      </p:sp>
      <p:sp>
        <p:nvSpPr>
          <p:cNvPr id="7" name="Text 5"/>
          <p:cNvSpPr/>
          <p:nvPr/>
        </p:nvSpPr>
        <p:spPr>
          <a:xfrm>
            <a:off x="457200" y="2194560"/>
            <a:ext cx="3931920" cy="365760"/>
          </a:xfrm>
          <a:prstGeom prst="rect">
            <a:avLst/>
          </a:prstGeom>
          <a:noFill/>
          <a:ln/>
        </p:spPr>
        <p:txBody>
          <a:bodyPr wrap="square" rtlCol="0" anchor="ctr"/>
          <a:lstStyle/>
          <a:p>
            <a:pPr indent="0" marL="0">
              <a:buNone/>
            </a:pPr>
            <a:r>
              <a:rPr lang="en-US" sz="1400" b="1" dirty="0">
                <a:solidFill>
                  <a:srgbClr val="2B3A5B"/>
                </a:solidFill>
                <a:latin typeface="Georgia" pitchFamily="34" charset="0"/>
                <a:ea typeface="Georgia" pitchFamily="34" charset="-122"/>
                <a:cs typeface="Georgia" pitchFamily="34" charset="-120"/>
              </a:rPr>
              <a:t>満足できる答えが出た問い</a:t>
            </a:r>
            <a:endParaRPr lang="en-US" sz="1400" dirty="0"/>
          </a:p>
        </p:txBody>
      </p:sp>
      <p:sp>
        <p:nvSpPr>
          <p:cNvPr id="8" name="Shape 6"/>
          <p:cNvSpPr/>
          <p:nvPr/>
        </p:nvSpPr>
        <p:spPr>
          <a:xfrm>
            <a:off x="457200" y="2651760"/>
            <a:ext cx="109728" cy="365760"/>
          </a:xfrm>
          <a:prstGeom prst="rect">
            <a:avLst/>
          </a:prstGeom>
          <a:solidFill>
            <a:srgbClr val="D4A85A"/>
          </a:solidFill>
          <a:ln/>
        </p:spPr>
      </p:sp>
      <p:sp>
        <p:nvSpPr>
          <p:cNvPr id="9" name="Text 7"/>
          <p:cNvSpPr/>
          <p:nvPr/>
        </p:nvSpPr>
        <p:spPr>
          <a:xfrm>
            <a:off x="685800" y="2651760"/>
            <a:ext cx="3657600" cy="3657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2. きょうだいの性格差（ハリスの研究）</a:t>
            </a:r>
            <a:endParaRPr lang="en-US" sz="1200" dirty="0"/>
          </a:p>
        </p:txBody>
      </p:sp>
      <p:sp>
        <p:nvSpPr>
          <p:cNvPr id="10" name="Shape 8"/>
          <p:cNvSpPr/>
          <p:nvPr/>
        </p:nvSpPr>
        <p:spPr>
          <a:xfrm>
            <a:off x="457200" y="3154680"/>
            <a:ext cx="109728" cy="365760"/>
          </a:xfrm>
          <a:prstGeom prst="rect">
            <a:avLst/>
          </a:prstGeom>
          <a:solidFill>
            <a:srgbClr val="D4A85A"/>
          </a:solidFill>
          <a:ln/>
        </p:spPr>
      </p:sp>
      <p:sp>
        <p:nvSpPr>
          <p:cNvPr id="11" name="Text 9"/>
          <p:cNvSpPr/>
          <p:nvPr/>
        </p:nvSpPr>
        <p:spPr>
          <a:xfrm>
            <a:off x="685800" y="3154680"/>
            <a:ext cx="3657600" cy="3657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5. 子殺し（デイリー＆ウィルソン）</a:t>
            </a:r>
            <a:endParaRPr lang="en-US" sz="1200" dirty="0"/>
          </a:p>
        </p:txBody>
      </p:sp>
      <p:sp>
        <p:nvSpPr>
          <p:cNvPr id="12" name="Shape 10"/>
          <p:cNvSpPr/>
          <p:nvPr/>
        </p:nvSpPr>
        <p:spPr>
          <a:xfrm>
            <a:off x="457200" y="3657600"/>
            <a:ext cx="109728" cy="365760"/>
          </a:xfrm>
          <a:prstGeom prst="rect">
            <a:avLst/>
          </a:prstGeom>
          <a:solidFill>
            <a:srgbClr val="D4A85A"/>
          </a:solidFill>
          <a:ln/>
        </p:spPr>
      </p:sp>
      <p:sp>
        <p:nvSpPr>
          <p:cNvPr id="13" name="Text 11"/>
          <p:cNvSpPr/>
          <p:nvPr/>
        </p:nvSpPr>
        <p:spPr>
          <a:xfrm>
            <a:off x="685800" y="3657600"/>
            <a:ext cx="3657600" cy="3657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6. 兵士の犠牲（部分的説明）</a:t>
            </a:r>
            <a:endParaRPr lang="en-US" sz="1200" dirty="0"/>
          </a:p>
        </p:txBody>
      </p:sp>
      <p:sp>
        <p:nvSpPr>
          <p:cNvPr id="14" name="Text 12"/>
          <p:cNvSpPr/>
          <p:nvPr/>
        </p:nvSpPr>
        <p:spPr>
          <a:xfrm>
            <a:off x="4754880" y="2194560"/>
            <a:ext cx="3931920" cy="365760"/>
          </a:xfrm>
          <a:prstGeom prst="rect">
            <a:avLst/>
          </a:prstGeom>
          <a:noFill/>
          <a:ln/>
        </p:spPr>
        <p:txBody>
          <a:bodyPr wrap="square" rtlCol="0" anchor="ctr"/>
          <a:lstStyle/>
          <a:p>
            <a:pPr indent="0" marL="0">
              <a:buNone/>
            </a:pPr>
            <a:r>
              <a:rPr lang="en-US" sz="1400" b="1" dirty="0">
                <a:solidFill>
                  <a:srgbClr val="2B3A5B"/>
                </a:solidFill>
                <a:latin typeface="Georgia" pitchFamily="34" charset="0"/>
                <a:ea typeface="Georgia" pitchFamily="34" charset="-122"/>
                <a:cs typeface="Georgia" pitchFamily="34" charset="-120"/>
              </a:rPr>
              <a:t>未解決のまま残る問い</a:t>
            </a:r>
            <a:endParaRPr lang="en-US" sz="1400" dirty="0"/>
          </a:p>
        </p:txBody>
      </p:sp>
      <p:sp>
        <p:nvSpPr>
          <p:cNvPr id="15" name="Shape 13"/>
          <p:cNvSpPr/>
          <p:nvPr/>
        </p:nvSpPr>
        <p:spPr>
          <a:xfrm>
            <a:off x="4754880" y="2651760"/>
            <a:ext cx="109728" cy="365760"/>
          </a:xfrm>
          <a:prstGeom prst="rect">
            <a:avLst/>
          </a:prstGeom>
          <a:solidFill>
            <a:srgbClr val="B85042"/>
          </a:solidFill>
          <a:ln/>
        </p:spPr>
      </p:sp>
      <p:sp>
        <p:nvSpPr>
          <p:cNvPr id="16" name="Text 14"/>
          <p:cNvSpPr/>
          <p:nvPr/>
        </p:nvSpPr>
        <p:spPr>
          <a:xfrm>
            <a:off x="4983480" y="2651760"/>
            <a:ext cx="3657600" cy="3657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1. 同性愛の説明</a:t>
            </a:r>
            <a:endParaRPr lang="en-US" sz="1200" dirty="0"/>
          </a:p>
        </p:txBody>
      </p:sp>
      <p:sp>
        <p:nvSpPr>
          <p:cNvPr id="17" name="Shape 15"/>
          <p:cNvSpPr/>
          <p:nvPr/>
        </p:nvSpPr>
        <p:spPr>
          <a:xfrm>
            <a:off x="4754880" y="3154680"/>
            <a:ext cx="109728" cy="365760"/>
          </a:xfrm>
          <a:prstGeom prst="rect">
            <a:avLst/>
          </a:prstGeom>
          <a:solidFill>
            <a:srgbClr val="B85042"/>
          </a:solidFill>
          <a:ln/>
        </p:spPr>
      </p:sp>
      <p:sp>
        <p:nvSpPr>
          <p:cNvPr id="18" name="Text 16"/>
          <p:cNvSpPr/>
          <p:nvPr/>
        </p:nvSpPr>
        <p:spPr>
          <a:xfrm>
            <a:off x="4983480" y="3154680"/>
            <a:ext cx="3657600" cy="3657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3. 少子化・子供を持たない選択</a:t>
            </a:r>
            <a:endParaRPr lang="en-US" sz="1200" dirty="0"/>
          </a:p>
        </p:txBody>
      </p:sp>
      <p:sp>
        <p:nvSpPr>
          <p:cNvPr id="19" name="Shape 17"/>
          <p:cNvSpPr/>
          <p:nvPr/>
        </p:nvSpPr>
        <p:spPr>
          <a:xfrm>
            <a:off x="4754880" y="3657600"/>
            <a:ext cx="109728" cy="365760"/>
          </a:xfrm>
          <a:prstGeom prst="rect">
            <a:avLst/>
          </a:prstGeom>
          <a:solidFill>
            <a:srgbClr val="B85042"/>
          </a:solidFill>
          <a:ln/>
        </p:spPr>
      </p:sp>
      <p:sp>
        <p:nvSpPr>
          <p:cNvPr id="20" name="Text 18"/>
          <p:cNvSpPr/>
          <p:nvPr/>
        </p:nvSpPr>
        <p:spPr>
          <a:xfrm>
            <a:off x="4983480" y="3657600"/>
            <a:ext cx="3657600" cy="3657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4. 自殺行為</a:t>
            </a:r>
            <a:endParaRPr lang="en-US" sz="1200" dirty="0"/>
          </a:p>
        </p:txBody>
      </p:sp>
      <p:sp>
        <p:nvSpPr>
          <p:cNvPr id="21" name="Shape 19"/>
          <p:cNvSpPr/>
          <p:nvPr/>
        </p:nvSpPr>
        <p:spPr>
          <a:xfrm>
            <a:off x="457200" y="4297680"/>
            <a:ext cx="8229600" cy="457200"/>
          </a:xfrm>
          <a:prstGeom prst="rect">
            <a:avLst/>
          </a:prstGeom>
          <a:solidFill>
            <a:srgbClr val="E8F0F5"/>
          </a:solidFill>
          <a:ln/>
        </p:spPr>
      </p:sp>
      <p:sp>
        <p:nvSpPr>
          <p:cNvPr id="22" name="Text 20"/>
          <p:cNvSpPr/>
          <p:nvPr/>
        </p:nvSpPr>
        <p:spPr>
          <a:xfrm>
            <a:off x="640080" y="4389120"/>
            <a:ext cx="7863840" cy="274320"/>
          </a:xfrm>
          <a:prstGeom prst="rect">
            <a:avLst/>
          </a:prstGeom>
          <a:noFill/>
          <a:ln/>
        </p:spPr>
        <p:txBody>
          <a:bodyPr wrap="square" rtlCol="0" anchor="ctr"/>
          <a:lstStyle/>
          <a:p>
            <a:pPr algn="ctr" indent="0" marL="0">
              <a:buNone/>
            </a:pPr>
            <a:r>
              <a:rPr lang="en-US" sz="1100" i="1" dirty="0">
                <a:solidFill>
                  <a:srgbClr val="2B3A5B"/>
                </a:solidFill>
                <a:latin typeface="Calibri" pitchFamily="34" charset="0"/>
                <a:ea typeface="Calibri" pitchFamily="34" charset="-122"/>
                <a:cs typeface="Calibri" pitchFamily="34" charset="-120"/>
              </a:rPr>
              <a:t>※ライトの問いに対するスコアは研究者によって評価が異なる場合がある</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3A5B"/>
                </a:solidFill>
                <a:latin typeface="Georgia" pitchFamily="34" charset="0"/>
                <a:ea typeface="Georgia" pitchFamily="34" charset="-122"/>
                <a:cs typeface="Georgia" pitchFamily="34" charset="-120"/>
              </a:rPr>
              <a:t>さらなる謎①：子供はなぜ親を愛するのか</a:t>
            </a:r>
            <a:endParaRPr lang="en-US" sz="2800" dirty="0"/>
          </a:p>
        </p:txBody>
      </p:sp>
      <p:sp>
        <p:nvSpPr>
          <p:cNvPr id="3" name="Shape 1"/>
          <p:cNvSpPr/>
          <p:nvPr/>
        </p:nvSpPr>
        <p:spPr>
          <a:xfrm>
            <a:off x="457200" y="868680"/>
            <a:ext cx="1371600" cy="45720"/>
          </a:xfrm>
          <a:prstGeom prst="rect">
            <a:avLst/>
          </a:prstGeom>
          <a:solidFill>
            <a:srgbClr val="D4A85A"/>
          </a:solidFill>
          <a:ln/>
        </p:spPr>
      </p:sp>
      <p:sp>
        <p:nvSpPr>
          <p:cNvPr id="4" name="Shape 2"/>
          <p:cNvSpPr/>
          <p:nvPr/>
        </p:nvSpPr>
        <p:spPr>
          <a:xfrm>
            <a:off x="457200" y="1097280"/>
            <a:ext cx="8229600" cy="640080"/>
          </a:xfrm>
          <a:prstGeom prst="rect">
            <a:avLst/>
          </a:prstGeom>
          <a:solidFill>
            <a:srgbClr val="E8F0F5"/>
          </a:solidFill>
          <a:ln/>
        </p:spPr>
      </p:sp>
      <p:sp>
        <p:nvSpPr>
          <p:cNvPr id="5" name="Text 3"/>
          <p:cNvSpPr/>
          <p:nvPr/>
        </p:nvSpPr>
        <p:spPr>
          <a:xfrm>
            <a:off x="640080" y="1234440"/>
            <a:ext cx="7863840" cy="365760"/>
          </a:xfrm>
          <a:prstGeom prst="rect">
            <a:avLst/>
          </a:prstGeom>
          <a:noFill/>
          <a:ln/>
        </p:spPr>
        <p:txBody>
          <a:bodyPr wrap="square" rtlCol="0" anchor="ctr"/>
          <a:lstStyle/>
          <a:p>
            <a:pPr algn="ctr" indent="0" marL="0">
              <a:buNone/>
            </a:pPr>
            <a:r>
              <a:rPr lang="en-US" sz="1400" dirty="0">
                <a:solidFill>
                  <a:srgbClr val="2B3A5B"/>
                </a:solidFill>
                <a:latin typeface="Georgia" pitchFamily="34" charset="0"/>
                <a:ea typeface="Georgia" pitchFamily="34" charset="-122"/>
                <a:cs typeface="Georgia" pitchFamily="34" charset="-120"/>
              </a:rPr>
              <a:t>一見当然に思える「子が親を愛する」という感情は、進化心理学では説明が困難</a:t>
            </a:r>
            <a:endParaRPr lang="en-US" sz="1400" dirty="0"/>
          </a:p>
        </p:txBody>
      </p:sp>
      <p:sp>
        <p:nvSpPr>
          <p:cNvPr id="6" name="Shape 4"/>
          <p:cNvSpPr/>
          <p:nvPr/>
        </p:nvSpPr>
        <p:spPr>
          <a:xfrm>
            <a:off x="457200" y="1920240"/>
            <a:ext cx="3931920" cy="365760"/>
          </a:xfrm>
          <a:prstGeom prst="rect">
            <a:avLst/>
          </a:prstGeom>
          <a:solidFill>
            <a:srgbClr val="B4C7D9"/>
          </a:solidFill>
          <a:ln/>
        </p:spPr>
      </p:sp>
      <p:sp>
        <p:nvSpPr>
          <p:cNvPr id="7" name="Text 5"/>
          <p:cNvSpPr/>
          <p:nvPr/>
        </p:nvSpPr>
        <p:spPr>
          <a:xfrm>
            <a:off x="457200" y="1920240"/>
            <a:ext cx="3931920" cy="365760"/>
          </a:xfrm>
          <a:prstGeom prst="rect">
            <a:avLst/>
          </a:prstGeom>
          <a:noFill/>
          <a:ln/>
        </p:spPr>
        <p:txBody>
          <a:bodyPr wrap="square" rtlCol="0" anchor="ctr"/>
          <a:lstStyle/>
          <a:p>
            <a:pPr algn="ctr" indent="0" marL="0">
              <a:buNone/>
            </a:pPr>
            <a:r>
              <a:rPr lang="en-US" sz="1500" b="1" dirty="0">
                <a:solidFill>
                  <a:srgbClr val="2B3A5B"/>
                </a:solidFill>
                <a:latin typeface="Georgia" pitchFamily="34" charset="0"/>
                <a:ea typeface="Georgia" pitchFamily="34" charset="-122"/>
                <a:cs typeface="Georgia" pitchFamily="34" charset="-120"/>
              </a:rPr>
              <a:t>親の立場</a:t>
            </a:r>
            <a:endParaRPr lang="en-US" sz="1500" dirty="0"/>
          </a:p>
        </p:txBody>
      </p:sp>
      <p:sp>
        <p:nvSpPr>
          <p:cNvPr id="8" name="Shape 6"/>
          <p:cNvSpPr/>
          <p:nvPr/>
        </p:nvSpPr>
        <p:spPr>
          <a:xfrm>
            <a:off x="457200" y="2286000"/>
            <a:ext cx="3931920" cy="1645920"/>
          </a:xfrm>
          <a:prstGeom prst="rect">
            <a:avLst/>
          </a:prstGeom>
          <a:solidFill>
            <a:srgbClr val="FFFFFF"/>
          </a:solidFill>
          <a:ln w="12700">
            <a:solidFill>
              <a:srgbClr val="B4C7D9"/>
            </a:solidFill>
            <a:prstDash val="solid"/>
          </a:ln>
        </p:spPr>
      </p:sp>
      <p:sp>
        <p:nvSpPr>
          <p:cNvPr id="9" name="Text 7"/>
          <p:cNvSpPr/>
          <p:nvPr/>
        </p:nvSpPr>
        <p:spPr>
          <a:xfrm>
            <a:off x="594360" y="2377440"/>
            <a:ext cx="3657600" cy="1463040"/>
          </a:xfrm>
          <a:prstGeom prst="rect">
            <a:avLst/>
          </a:prstGeom>
          <a:noFill/>
          <a:ln/>
        </p:spPr>
        <p:txBody>
          <a:bodyPr wrap="square" rtlCol="0" anchor="t"/>
          <a:lstStyle/>
          <a:p>
            <a:pPr indent="0" marL="0">
              <a:buNone/>
            </a:pPr>
            <a:r>
              <a:rPr lang="en-US" sz="1200" dirty="0">
                <a:solidFill>
                  <a:srgbClr val="333333"/>
                </a:solidFill>
                <a:latin typeface="Calibri" pitchFamily="34" charset="0"/>
                <a:ea typeface="Calibri" pitchFamily="34" charset="-122"/>
                <a:cs typeface="Calibri" pitchFamily="34" charset="-120"/>
              </a:rPr>
              <a:t>親は「いちばん愛してくれる子」ではなく「より魅力的で健康な子」に投資するよう動機づけられる</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→親が子を愛するのは進化的に説明可能</a:t>
            </a:r>
            <a:endParaRPr lang="en-US" sz="1200" dirty="0"/>
          </a:p>
        </p:txBody>
      </p:sp>
      <p:sp>
        <p:nvSpPr>
          <p:cNvPr id="10" name="Shape 8"/>
          <p:cNvSpPr/>
          <p:nvPr/>
        </p:nvSpPr>
        <p:spPr>
          <a:xfrm>
            <a:off x="4754880" y="1920240"/>
            <a:ext cx="3931920" cy="365760"/>
          </a:xfrm>
          <a:prstGeom prst="rect">
            <a:avLst/>
          </a:prstGeom>
          <a:solidFill>
            <a:srgbClr val="2B3A5B"/>
          </a:solidFill>
          <a:ln/>
        </p:spPr>
      </p:sp>
      <p:sp>
        <p:nvSpPr>
          <p:cNvPr id="11" name="Text 9"/>
          <p:cNvSpPr/>
          <p:nvPr/>
        </p:nvSpPr>
        <p:spPr>
          <a:xfrm>
            <a:off x="4754880" y="1920240"/>
            <a:ext cx="3931920" cy="36576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子供の立場</a:t>
            </a:r>
            <a:endParaRPr lang="en-US" sz="1500" dirty="0"/>
          </a:p>
        </p:txBody>
      </p:sp>
      <p:sp>
        <p:nvSpPr>
          <p:cNvPr id="12" name="Shape 10"/>
          <p:cNvSpPr/>
          <p:nvPr/>
        </p:nvSpPr>
        <p:spPr>
          <a:xfrm>
            <a:off x="4754880" y="2286000"/>
            <a:ext cx="3931920" cy="1645920"/>
          </a:xfrm>
          <a:prstGeom prst="rect">
            <a:avLst/>
          </a:prstGeom>
          <a:solidFill>
            <a:srgbClr val="FFFFFF"/>
          </a:solidFill>
          <a:ln w="12700">
            <a:solidFill>
              <a:srgbClr val="2B3A5B"/>
            </a:solidFill>
            <a:prstDash val="solid"/>
          </a:ln>
        </p:spPr>
      </p:sp>
      <p:sp>
        <p:nvSpPr>
          <p:cNvPr id="13" name="Text 11"/>
          <p:cNvSpPr/>
          <p:nvPr/>
        </p:nvSpPr>
        <p:spPr>
          <a:xfrm>
            <a:off x="4892040" y="2377440"/>
            <a:ext cx="3657600" cy="1463040"/>
          </a:xfrm>
          <a:prstGeom prst="rect">
            <a:avLst/>
          </a:prstGeom>
          <a:noFill/>
          <a:ln/>
        </p:spPr>
        <p:txBody>
          <a:bodyPr wrap="square" rtlCol="0" anchor="t"/>
          <a:lstStyle/>
          <a:p>
            <a:pPr indent="0" marL="0">
              <a:buNone/>
            </a:pPr>
            <a:r>
              <a:rPr lang="en-US" sz="1200" dirty="0">
                <a:solidFill>
                  <a:srgbClr val="333333"/>
                </a:solidFill>
                <a:latin typeface="Calibri" pitchFamily="34" charset="0"/>
                <a:ea typeface="Calibri" pitchFamily="34" charset="-122"/>
                <a:cs typeface="Calibri" pitchFamily="34" charset="-120"/>
              </a:rPr>
              <a:t>子供は親を愛する必要がない</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親が若ければ成長後も資源を分けてもらえるが、もう一人は親をとても愛しているとしたら?</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→なぜ子は親を愛するのか？</a:t>
            </a:r>
            <a:endParaRPr lang="en-US" sz="1200" dirty="0"/>
          </a:p>
        </p:txBody>
      </p:sp>
      <p:sp>
        <p:nvSpPr>
          <p:cNvPr id="14" name="Text 12"/>
          <p:cNvSpPr/>
          <p:nvPr/>
        </p:nvSpPr>
        <p:spPr>
          <a:xfrm>
            <a:off x="457200" y="4206240"/>
            <a:ext cx="8229600" cy="365760"/>
          </a:xfrm>
          <a:prstGeom prst="rect">
            <a:avLst/>
          </a:prstGeom>
          <a:noFill/>
          <a:ln/>
        </p:spPr>
        <p:txBody>
          <a:bodyPr wrap="square" rtlCol="0" anchor="ctr"/>
          <a:lstStyle/>
          <a:p>
            <a:pPr algn="ctr" indent="0" marL="0">
              <a:buNone/>
            </a:pPr>
            <a:r>
              <a:rPr lang="en-US" sz="1300" i="1" dirty="0">
                <a:solidFill>
                  <a:srgbClr val="2B3A5B"/>
                </a:solidFill>
                <a:latin typeface="Georgia" pitchFamily="34" charset="0"/>
                <a:ea typeface="Georgia" pitchFamily="34" charset="-122"/>
                <a:cs typeface="Georgia" pitchFamily="34" charset="-120"/>
              </a:rPr>
              <a:t>進化心理学では解けない謎であると言ったほうがいいかもしれない</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3A5B"/>
                </a:solidFill>
                <a:latin typeface="Georgia" pitchFamily="34" charset="0"/>
                <a:ea typeface="Georgia" pitchFamily="34" charset="-122"/>
                <a:cs typeface="Georgia" pitchFamily="34" charset="-120"/>
              </a:rPr>
              <a:t>さらなる謎②：豊かな先進国での少子化</a:t>
            </a:r>
            <a:endParaRPr lang="en-US" sz="2800" dirty="0"/>
          </a:p>
        </p:txBody>
      </p:sp>
      <p:sp>
        <p:nvSpPr>
          <p:cNvPr id="3" name="Shape 1"/>
          <p:cNvSpPr/>
          <p:nvPr/>
        </p:nvSpPr>
        <p:spPr>
          <a:xfrm>
            <a:off x="457200" y="868680"/>
            <a:ext cx="1371600" cy="45720"/>
          </a:xfrm>
          <a:prstGeom prst="rect">
            <a:avLst/>
          </a:prstGeom>
          <a:solidFill>
            <a:srgbClr val="D4A85A"/>
          </a:solidFill>
          <a:ln/>
        </p:spPr>
      </p:sp>
      <p:sp>
        <p:nvSpPr>
          <p:cNvPr id="4" name="Shape 2"/>
          <p:cNvSpPr/>
          <p:nvPr/>
        </p:nvSpPr>
        <p:spPr>
          <a:xfrm>
            <a:off x="457200" y="1097280"/>
            <a:ext cx="8229600" cy="640080"/>
          </a:xfrm>
          <a:prstGeom prst="rect">
            <a:avLst/>
          </a:prstGeom>
          <a:solidFill>
            <a:srgbClr val="E8F0F5"/>
          </a:solidFill>
          <a:ln/>
        </p:spPr>
      </p:sp>
      <p:sp>
        <p:nvSpPr>
          <p:cNvPr id="5" name="Text 3"/>
          <p:cNvSpPr/>
          <p:nvPr/>
        </p:nvSpPr>
        <p:spPr>
          <a:xfrm>
            <a:off x="640080" y="1234440"/>
            <a:ext cx="7863840" cy="365760"/>
          </a:xfrm>
          <a:prstGeom prst="rect">
            <a:avLst/>
          </a:prstGeom>
          <a:noFill/>
          <a:ln/>
        </p:spPr>
        <p:txBody>
          <a:bodyPr wrap="square" rtlCol="0" anchor="ctr"/>
          <a:lstStyle/>
          <a:p>
            <a:pPr algn="ctr" indent="0" marL="0">
              <a:buNone/>
            </a:pPr>
            <a:r>
              <a:rPr lang="en-US" sz="1400" dirty="0">
                <a:solidFill>
                  <a:srgbClr val="2B3A5B"/>
                </a:solidFill>
                <a:latin typeface="Georgia" pitchFamily="34" charset="0"/>
                <a:ea typeface="Georgia" pitchFamily="34" charset="-122"/>
                <a:cs typeface="Georgia" pitchFamily="34" charset="-120"/>
              </a:rPr>
              <a:t>資源が豊富な先進国で、なぜ出生率が低下するのか？</a:t>
            </a:r>
            <a:endParaRPr lang="en-US" sz="1400" dirty="0"/>
          </a:p>
        </p:txBody>
      </p:sp>
      <p:sp>
        <p:nvSpPr>
          <p:cNvPr id="6" name="Shape 4"/>
          <p:cNvSpPr/>
          <p:nvPr/>
        </p:nvSpPr>
        <p:spPr>
          <a:xfrm>
            <a:off x="457200" y="1920240"/>
            <a:ext cx="2560320" cy="1280160"/>
          </a:xfrm>
          <a:prstGeom prst="rect">
            <a:avLst/>
          </a:prstGeom>
          <a:solidFill>
            <a:srgbClr val="2B3A5B"/>
          </a:solidFill>
          <a:ln/>
        </p:spPr>
      </p:sp>
      <p:sp>
        <p:nvSpPr>
          <p:cNvPr id="7" name="Text 5"/>
          <p:cNvSpPr/>
          <p:nvPr/>
        </p:nvSpPr>
        <p:spPr>
          <a:xfrm>
            <a:off x="457200" y="2057400"/>
            <a:ext cx="2560320" cy="64008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90%</a:t>
            </a:r>
            <a:endParaRPr lang="en-US" sz="3600" dirty="0"/>
          </a:p>
        </p:txBody>
      </p:sp>
      <p:sp>
        <p:nvSpPr>
          <p:cNvPr id="8" name="Text 6"/>
          <p:cNvSpPr/>
          <p:nvPr/>
        </p:nvSpPr>
        <p:spPr>
          <a:xfrm>
            <a:off x="457200" y="2697480"/>
            <a:ext cx="2560320" cy="457200"/>
          </a:xfrm>
          <a:prstGeom prst="rect">
            <a:avLst/>
          </a:prstGeom>
          <a:noFill/>
          <a:ln/>
        </p:spPr>
        <p:txBody>
          <a:bodyPr wrap="square" rtlCol="0" anchor="ctr"/>
          <a:lstStyle/>
          <a:p>
            <a:pPr algn="ctr" indent="0" marL="0">
              <a:buNone/>
            </a:pPr>
            <a:r>
              <a:rPr lang="en-US" sz="1100" dirty="0">
                <a:solidFill>
                  <a:srgbClr val="D4A85A"/>
                </a:solidFill>
                <a:latin typeface="Calibri" pitchFamily="34" charset="0"/>
                <a:ea typeface="Calibri" pitchFamily="34" charset="-122"/>
                <a:cs typeface="Calibri" pitchFamily="34" charset="-120"/>
              </a:rPr>
              <a:t>アメリカで子供を</a:t>
            </a:r>
            <a:endParaRPr lang="en-US" sz="1100" dirty="0"/>
          </a:p>
          <a:p>
            <a:pPr algn="ctr" indent="0" marL="0">
              <a:buNone/>
            </a:pPr>
            <a:r>
              <a:rPr lang="en-US" sz="1100" dirty="0">
                <a:solidFill>
                  <a:srgbClr val="D4A85A"/>
                </a:solidFill>
                <a:latin typeface="Calibri" pitchFamily="34" charset="0"/>
                <a:ea typeface="Calibri" pitchFamily="34" charset="-122"/>
                <a:cs typeface="Calibri" pitchFamily="34" charset="-120"/>
              </a:rPr>
              <a:t>持つ人の割合</a:t>
            </a:r>
            <a:endParaRPr lang="en-US" sz="1100" dirty="0"/>
          </a:p>
        </p:txBody>
      </p:sp>
      <p:sp>
        <p:nvSpPr>
          <p:cNvPr id="9" name="Shape 7"/>
          <p:cNvSpPr/>
          <p:nvPr/>
        </p:nvSpPr>
        <p:spPr>
          <a:xfrm>
            <a:off x="3291840" y="1920240"/>
            <a:ext cx="2560320" cy="1280160"/>
          </a:xfrm>
          <a:prstGeom prst="rect">
            <a:avLst/>
          </a:prstGeom>
          <a:solidFill>
            <a:srgbClr val="D4A85A"/>
          </a:solidFill>
          <a:ln/>
        </p:spPr>
      </p:sp>
      <p:sp>
        <p:nvSpPr>
          <p:cNvPr id="10" name="Text 8"/>
          <p:cNvSpPr/>
          <p:nvPr/>
        </p:nvSpPr>
        <p:spPr>
          <a:xfrm>
            <a:off x="3291840" y="2057400"/>
            <a:ext cx="2560320" cy="64008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1-2人</a:t>
            </a:r>
            <a:endParaRPr lang="en-US" sz="3600" dirty="0"/>
          </a:p>
        </p:txBody>
      </p:sp>
      <p:sp>
        <p:nvSpPr>
          <p:cNvPr id="11" name="Text 9"/>
          <p:cNvSpPr/>
          <p:nvPr/>
        </p:nvSpPr>
        <p:spPr>
          <a:xfrm>
            <a:off x="3291840" y="2697480"/>
            <a:ext cx="2560320" cy="457200"/>
          </a:xfrm>
          <a:prstGeom prst="rect">
            <a:avLst/>
          </a:prstGeom>
          <a:noFill/>
          <a:ln/>
        </p:spPr>
        <p:txBody>
          <a:bodyPr wrap="square" rtlCol="0" anchor="ctr"/>
          <a:lstStyle/>
          <a:p>
            <a:pPr algn="ctr" indent="0" marL="0">
              <a:buNone/>
            </a:pPr>
            <a:r>
              <a:rPr lang="en-US" sz="1100" dirty="0">
                <a:solidFill>
                  <a:srgbClr val="2B3A5B"/>
                </a:solidFill>
                <a:latin typeface="Calibri" pitchFamily="34" charset="0"/>
                <a:ea typeface="Calibri" pitchFamily="34" charset="-122"/>
                <a:cs typeface="Calibri" pitchFamily="34" charset="-120"/>
              </a:rPr>
              <a:t>中流層の典型的な</a:t>
            </a:r>
            <a:endParaRPr lang="en-US" sz="1100" dirty="0"/>
          </a:p>
          <a:p>
            <a:pPr algn="ctr" indent="0" marL="0">
              <a:buNone/>
            </a:pPr>
            <a:r>
              <a:rPr lang="en-US" sz="1100" dirty="0">
                <a:solidFill>
                  <a:srgbClr val="2B3A5B"/>
                </a:solidFill>
                <a:latin typeface="Calibri" pitchFamily="34" charset="0"/>
                <a:ea typeface="Calibri" pitchFamily="34" charset="-122"/>
                <a:cs typeface="Calibri" pitchFamily="34" charset="-120"/>
              </a:rPr>
              <a:t>子供の数</a:t>
            </a:r>
            <a:endParaRPr lang="en-US" sz="1100" dirty="0"/>
          </a:p>
        </p:txBody>
      </p:sp>
      <p:sp>
        <p:nvSpPr>
          <p:cNvPr id="12" name="Shape 10"/>
          <p:cNvSpPr/>
          <p:nvPr/>
        </p:nvSpPr>
        <p:spPr>
          <a:xfrm>
            <a:off x="6126480" y="1920240"/>
            <a:ext cx="2560320" cy="1280160"/>
          </a:xfrm>
          <a:prstGeom prst="rect">
            <a:avLst/>
          </a:prstGeom>
          <a:solidFill>
            <a:srgbClr val="FFFFFF"/>
          </a:solidFill>
          <a:ln w="25400">
            <a:solidFill>
              <a:srgbClr val="2B3A5B"/>
            </a:solidFill>
            <a:prstDash val="solid"/>
          </a:ln>
        </p:spPr>
      </p:sp>
      <p:sp>
        <p:nvSpPr>
          <p:cNvPr id="13" name="Text 11"/>
          <p:cNvSpPr/>
          <p:nvPr/>
        </p:nvSpPr>
        <p:spPr>
          <a:xfrm>
            <a:off x="6126480" y="2057400"/>
            <a:ext cx="2560320" cy="640080"/>
          </a:xfrm>
          <a:prstGeom prst="rect">
            <a:avLst/>
          </a:prstGeom>
          <a:noFill/>
          <a:ln/>
        </p:spPr>
        <p:txBody>
          <a:bodyPr wrap="square" rtlCol="0" anchor="ctr"/>
          <a:lstStyle/>
          <a:p>
            <a:pPr algn="ctr" indent="0" marL="0">
              <a:buNone/>
            </a:pPr>
            <a:r>
              <a:rPr lang="en-US" sz="3600" b="1" dirty="0">
                <a:solidFill>
                  <a:srgbClr val="2B3A5B"/>
                </a:solidFill>
                <a:latin typeface="Georgia" pitchFamily="34" charset="0"/>
                <a:ea typeface="Georgia" pitchFamily="34" charset="-122"/>
                <a:cs typeface="Georgia" pitchFamily="34" charset="-120"/>
              </a:rPr>
              <a:t>4-5人?</a:t>
            </a:r>
            <a:endParaRPr lang="en-US" sz="3600" dirty="0"/>
          </a:p>
        </p:txBody>
      </p:sp>
      <p:sp>
        <p:nvSpPr>
          <p:cNvPr id="14" name="Text 12"/>
          <p:cNvSpPr/>
          <p:nvPr/>
        </p:nvSpPr>
        <p:spPr>
          <a:xfrm>
            <a:off x="6126480" y="2697480"/>
            <a:ext cx="2560320" cy="457200"/>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進化心理学が予測する</a:t>
            </a:r>
            <a:endParaRPr lang="en-US" sz="1100" dirty="0"/>
          </a:p>
          <a:p>
            <a:pPr algn="ctr" indent="0" marL="0">
              <a:buNone/>
            </a:pPr>
            <a:r>
              <a:rPr lang="en-US" sz="1100" dirty="0">
                <a:solidFill>
                  <a:srgbClr val="333333"/>
                </a:solidFill>
                <a:latin typeface="Calibri" pitchFamily="34" charset="0"/>
                <a:ea typeface="Calibri" pitchFamily="34" charset="-122"/>
                <a:cs typeface="Calibri" pitchFamily="34" charset="-120"/>
              </a:rPr>
              <a:t>「理想の子供数」</a:t>
            </a:r>
            <a:endParaRPr lang="en-US" sz="1100" dirty="0"/>
          </a:p>
        </p:txBody>
      </p:sp>
      <p:sp>
        <p:nvSpPr>
          <p:cNvPr id="15" name="Text 13"/>
          <p:cNvSpPr/>
          <p:nvPr/>
        </p:nvSpPr>
        <p:spPr>
          <a:xfrm>
            <a:off x="457200" y="3383280"/>
            <a:ext cx="8229600" cy="365760"/>
          </a:xfrm>
          <a:prstGeom prst="rect">
            <a:avLst/>
          </a:prstGeom>
          <a:noFill/>
          <a:ln/>
        </p:spPr>
        <p:txBody>
          <a:bodyPr wrap="square" rtlCol="0" anchor="ctr"/>
          <a:lstStyle/>
          <a:p>
            <a:pPr indent="0" marL="0">
              <a:buNone/>
            </a:pPr>
            <a:r>
              <a:rPr lang="en-US" sz="1400" b="1" dirty="0">
                <a:solidFill>
                  <a:srgbClr val="2B3A5B"/>
                </a:solidFill>
                <a:latin typeface="Georgia" pitchFamily="34" charset="0"/>
                <a:ea typeface="Georgia" pitchFamily="34" charset="-122"/>
                <a:cs typeface="Georgia" pitchFamily="34" charset="-120"/>
              </a:rPr>
              <a:t>進化心理学の予測との矛盾</a:t>
            </a:r>
            <a:endParaRPr lang="en-US" sz="1400" dirty="0"/>
          </a:p>
        </p:txBody>
      </p:sp>
      <p:sp>
        <p:nvSpPr>
          <p:cNvPr id="16" name="Shape 14"/>
          <p:cNvSpPr/>
          <p:nvPr/>
        </p:nvSpPr>
        <p:spPr>
          <a:xfrm>
            <a:off x="548640" y="3794760"/>
            <a:ext cx="91440" cy="91440"/>
          </a:xfrm>
          <a:prstGeom prst="ellipse">
            <a:avLst/>
          </a:prstGeom>
          <a:solidFill>
            <a:srgbClr val="D4A85A"/>
          </a:solidFill>
          <a:ln/>
        </p:spPr>
      </p:sp>
      <p:sp>
        <p:nvSpPr>
          <p:cNvPr id="17" name="Text 15"/>
          <p:cNvSpPr/>
          <p:nvPr/>
        </p:nvSpPr>
        <p:spPr>
          <a:xfrm>
            <a:off x="777240" y="3749040"/>
            <a:ext cx="7909560" cy="32004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資源が豊富なら、より多くの子供に投資できるはず</a:t>
            </a:r>
            <a:endParaRPr lang="en-US" sz="1100" dirty="0"/>
          </a:p>
        </p:txBody>
      </p:sp>
      <p:sp>
        <p:nvSpPr>
          <p:cNvPr id="18" name="Shape 16"/>
          <p:cNvSpPr/>
          <p:nvPr/>
        </p:nvSpPr>
        <p:spPr>
          <a:xfrm>
            <a:off x="548640" y="4114800"/>
            <a:ext cx="91440" cy="91440"/>
          </a:xfrm>
          <a:prstGeom prst="ellipse">
            <a:avLst/>
          </a:prstGeom>
          <a:solidFill>
            <a:srgbClr val="D4A85A"/>
          </a:solidFill>
          <a:ln/>
        </p:spPr>
      </p:sp>
      <p:sp>
        <p:nvSpPr>
          <p:cNvPr id="19" name="Text 17"/>
          <p:cNvSpPr/>
          <p:nvPr/>
        </p:nvSpPr>
        <p:spPr>
          <a:xfrm>
            <a:off x="777240" y="4069080"/>
            <a:ext cx="7909560" cy="32004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男女両方の子を望む親が多いが、一人ずつできたらそこで止める</a:t>
            </a:r>
            <a:endParaRPr lang="en-US" sz="1100" dirty="0"/>
          </a:p>
        </p:txBody>
      </p:sp>
      <p:sp>
        <p:nvSpPr>
          <p:cNvPr id="20" name="Shape 18"/>
          <p:cNvSpPr/>
          <p:nvPr/>
        </p:nvSpPr>
        <p:spPr>
          <a:xfrm>
            <a:off x="548640" y="4434840"/>
            <a:ext cx="91440" cy="91440"/>
          </a:xfrm>
          <a:prstGeom prst="ellipse">
            <a:avLst/>
          </a:prstGeom>
          <a:solidFill>
            <a:srgbClr val="D4A85A"/>
          </a:solidFill>
          <a:ln/>
        </p:spPr>
      </p:sp>
      <p:sp>
        <p:nvSpPr>
          <p:cNvPr id="21" name="Text 19"/>
          <p:cNvSpPr/>
          <p:nvPr/>
        </p:nvSpPr>
        <p:spPr>
          <a:xfrm>
            <a:off x="777240" y="4389120"/>
            <a:ext cx="7909560" cy="32004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欧米の親は資源を与えられるだけ子供をつくらない——これは進化心理学にとっての謎</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3A5B"/>
                </a:solidFill>
                <a:latin typeface="Georgia" pitchFamily="34" charset="0"/>
                <a:ea typeface="Georgia" pitchFamily="34" charset="-122"/>
                <a:cs typeface="Georgia" pitchFamily="34" charset="-120"/>
              </a:rPr>
              <a:t>さらなる謎③：文化的普遍性と多様性</a:t>
            </a:r>
            <a:endParaRPr lang="en-US" sz="2800" dirty="0"/>
          </a:p>
        </p:txBody>
      </p:sp>
      <p:sp>
        <p:nvSpPr>
          <p:cNvPr id="3" name="Shape 1"/>
          <p:cNvSpPr/>
          <p:nvPr/>
        </p:nvSpPr>
        <p:spPr>
          <a:xfrm>
            <a:off x="457200" y="868680"/>
            <a:ext cx="1371600" cy="45720"/>
          </a:xfrm>
          <a:prstGeom prst="rect">
            <a:avLst/>
          </a:prstGeom>
          <a:solidFill>
            <a:srgbClr val="D4A85A"/>
          </a:solidFill>
          <a:ln/>
        </p:spPr>
      </p:sp>
      <p:sp>
        <p:nvSpPr>
          <p:cNvPr id="4" name="Text 2"/>
          <p:cNvSpPr/>
          <p:nvPr/>
        </p:nvSpPr>
        <p:spPr>
          <a:xfrm>
            <a:off x="457200" y="1097280"/>
            <a:ext cx="8229600" cy="548640"/>
          </a:xfrm>
          <a:prstGeom prst="rect">
            <a:avLst/>
          </a:prstGeom>
          <a:noFill/>
          <a:ln/>
        </p:spPr>
        <p:txBody>
          <a:bodyPr wrap="square" rtlCol="0" anchor="ctr"/>
          <a:lstStyle/>
          <a:p>
            <a:pPr algn="ctr" indent="0" marL="0">
              <a:buNone/>
            </a:pPr>
            <a:r>
              <a:rPr lang="en-US" sz="1300" dirty="0">
                <a:solidFill>
                  <a:srgbClr val="333333"/>
                </a:solidFill>
                <a:latin typeface="Calibri" pitchFamily="34" charset="0"/>
                <a:ea typeface="Calibri" pitchFamily="34" charset="-122"/>
                <a:cs typeface="Calibri" pitchFamily="34" charset="-120"/>
              </a:rPr>
              <a:t>進化心理学は「文化的に普遍的な行動」を説明しようとするが、</a:t>
            </a:r>
            <a:endParaRPr lang="en-US" sz="1300" dirty="0"/>
          </a:p>
          <a:p>
            <a:pPr algn="ctr" indent="0" marL="0">
              <a:buNone/>
            </a:pPr>
            <a:r>
              <a:rPr lang="en-US" sz="1300" dirty="0">
                <a:solidFill>
                  <a:srgbClr val="333333"/>
                </a:solidFill>
                <a:latin typeface="Calibri" pitchFamily="34" charset="0"/>
                <a:ea typeface="Calibri" pitchFamily="34" charset="-122"/>
                <a:cs typeface="Calibri" pitchFamily="34" charset="-120"/>
              </a:rPr>
              <a:t>文化によって異なる行動の説明は困難</a:t>
            </a:r>
            <a:endParaRPr lang="en-US" sz="1300" dirty="0"/>
          </a:p>
        </p:txBody>
      </p:sp>
      <p:sp>
        <p:nvSpPr>
          <p:cNvPr id="5" name="Shape 3"/>
          <p:cNvSpPr/>
          <p:nvPr/>
        </p:nvSpPr>
        <p:spPr>
          <a:xfrm>
            <a:off x="457200" y="1783080"/>
            <a:ext cx="8229600" cy="1463040"/>
          </a:xfrm>
          <a:prstGeom prst="rect">
            <a:avLst/>
          </a:prstGeom>
          <a:solidFill>
            <a:srgbClr val="E8F0F5"/>
          </a:solidFill>
          <a:ln/>
        </p:spPr>
      </p:sp>
      <p:sp>
        <p:nvSpPr>
          <p:cNvPr id="6" name="Text 4"/>
          <p:cNvSpPr/>
          <p:nvPr/>
        </p:nvSpPr>
        <p:spPr>
          <a:xfrm>
            <a:off x="640080" y="1920240"/>
            <a:ext cx="7863840" cy="365760"/>
          </a:xfrm>
          <a:prstGeom prst="rect">
            <a:avLst/>
          </a:prstGeom>
          <a:noFill/>
          <a:ln/>
        </p:spPr>
        <p:txBody>
          <a:bodyPr wrap="square" rtlCol="0" anchor="ctr"/>
          <a:lstStyle/>
          <a:p>
            <a:pPr indent="0" marL="0">
              <a:buNone/>
            </a:pPr>
            <a:r>
              <a:rPr lang="en-US" sz="1400" b="1" dirty="0">
                <a:solidFill>
                  <a:srgbClr val="2B3A5B"/>
                </a:solidFill>
                <a:latin typeface="Georgia" pitchFamily="34" charset="0"/>
                <a:ea typeface="Georgia" pitchFamily="34" charset="-122"/>
                <a:cs typeface="Georgia" pitchFamily="34" charset="-120"/>
              </a:rPr>
              <a:t>例：日焼けした肌はなぜ魅力的とされるのか？</a:t>
            </a:r>
            <a:endParaRPr lang="en-US" sz="1400" dirty="0"/>
          </a:p>
        </p:txBody>
      </p:sp>
      <p:sp>
        <p:nvSpPr>
          <p:cNvPr id="7" name="Text 5"/>
          <p:cNvSpPr/>
          <p:nvPr/>
        </p:nvSpPr>
        <p:spPr>
          <a:xfrm>
            <a:off x="640080" y="2286000"/>
            <a:ext cx="7863840" cy="86868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・男性に多くみられる行動（バーベキューで肉を切る、リモコンを手放さないなど）</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・社会科学者は「社会化によるもの」と考えるが、なぜあらゆる文化に共通するのか？</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・進化的な理由があるのか、それとも偶然の文化的普及なのか？</a:t>
            </a:r>
            <a:endParaRPr lang="en-US" sz="1200" dirty="0"/>
          </a:p>
        </p:txBody>
      </p:sp>
      <p:sp>
        <p:nvSpPr>
          <p:cNvPr id="8" name="Shape 6"/>
          <p:cNvSpPr/>
          <p:nvPr/>
        </p:nvSpPr>
        <p:spPr>
          <a:xfrm>
            <a:off x="457200" y="3383280"/>
            <a:ext cx="3931920" cy="320040"/>
          </a:xfrm>
          <a:prstGeom prst="rect">
            <a:avLst/>
          </a:prstGeom>
          <a:solidFill>
            <a:srgbClr val="B4C7D9"/>
          </a:solidFill>
          <a:ln/>
        </p:spPr>
      </p:sp>
      <p:sp>
        <p:nvSpPr>
          <p:cNvPr id="9" name="Text 7"/>
          <p:cNvSpPr/>
          <p:nvPr/>
        </p:nvSpPr>
        <p:spPr>
          <a:xfrm>
            <a:off x="457200" y="3383280"/>
            <a:ext cx="3931920" cy="320040"/>
          </a:xfrm>
          <a:prstGeom prst="rect">
            <a:avLst/>
          </a:prstGeom>
          <a:noFill/>
          <a:ln/>
        </p:spPr>
        <p:txBody>
          <a:bodyPr wrap="square" rtlCol="0" anchor="ctr"/>
          <a:lstStyle/>
          <a:p>
            <a:pPr algn="ctr" indent="0" marL="0">
              <a:buNone/>
            </a:pPr>
            <a:r>
              <a:rPr lang="en-US" sz="1300" b="1" dirty="0">
                <a:solidFill>
                  <a:srgbClr val="2B3A5B"/>
                </a:solidFill>
                <a:latin typeface="Georgia" pitchFamily="34" charset="0"/>
                <a:ea typeface="Georgia" pitchFamily="34" charset="-122"/>
                <a:cs typeface="Georgia" pitchFamily="34" charset="-120"/>
              </a:rPr>
              <a:t>進化心理学の立場</a:t>
            </a:r>
            <a:endParaRPr lang="en-US" sz="1300" dirty="0"/>
          </a:p>
        </p:txBody>
      </p:sp>
      <p:sp>
        <p:nvSpPr>
          <p:cNvPr id="10" name="Shape 8"/>
          <p:cNvSpPr/>
          <p:nvPr/>
        </p:nvSpPr>
        <p:spPr>
          <a:xfrm>
            <a:off x="457200" y="3703320"/>
            <a:ext cx="3931920" cy="1051560"/>
          </a:xfrm>
          <a:prstGeom prst="rect">
            <a:avLst/>
          </a:prstGeom>
          <a:solidFill>
            <a:srgbClr val="FFFFFF"/>
          </a:solidFill>
          <a:ln w="12700">
            <a:solidFill>
              <a:srgbClr val="B4C7D9"/>
            </a:solidFill>
            <a:prstDash val="solid"/>
          </a:ln>
        </p:spPr>
      </p:sp>
      <p:sp>
        <p:nvSpPr>
          <p:cNvPr id="11" name="Text 9"/>
          <p:cNvSpPr/>
          <p:nvPr/>
        </p:nvSpPr>
        <p:spPr>
          <a:xfrm>
            <a:off x="594360" y="3794760"/>
            <a:ext cx="3657600" cy="868680"/>
          </a:xfrm>
          <a:prstGeom prst="rect">
            <a:avLst/>
          </a:prstGeom>
          <a:noFill/>
          <a:ln/>
        </p:spPr>
        <p:txBody>
          <a:bodyPr wrap="square" rtlCol="0" anchor="t"/>
          <a:lstStyle/>
          <a:p>
            <a:pPr indent="0" marL="0">
              <a:buNone/>
            </a:pPr>
            <a:r>
              <a:rPr lang="en-US" sz="1100" dirty="0">
                <a:solidFill>
                  <a:srgbClr val="333333"/>
                </a:solidFill>
                <a:latin typeface="Calibri" pitchFamily="34" charset="0"/>
                <a:ea typeface="Calibri" pitchFamily="34" charset="-122"/>
                <a:cs typeface="Calibri" pitchFamily="34" charset="-120"/>
              </a:rPr>
              <a:t>ある行動が文化によって多少の違いはあっても、あらゆる文化に共通するなら、それは進化的な心理メカニズムが背景にある可能性が高い</a:t>
            </a:r>
            <a:endParaRPr lang="en-US" sz="1100" dirty="0"/>
          </a:p>
        </p:txBody>
      </p:sp>
      <p:sp>
        <p:nvSpPr>
          <p:cNvPr id="12" name="Shape 10"/>
          <p:cNvSpPr/>
          <p:nvPr/>
        </p:nvSpPr>
        <p:spPr>
          <a:xfrm>
            <a:off x="4754880" y="3383280"/>
            <a:ext cx="3931920" cy="320040"/>
          </a:xfrm>
          <a:prstGeom prst="rect">
            <a:avLst/>
          </a:prstGeom>
          <a:solidFill>
            <a:srgbClr val="2B3A5B"/>
          </a:solidFill>
          <a:ln/>
        </p:spPr>
      </p:sp>
      <p:sp>
        <p:nvSpPr>
          <p:cNvPr id="13" name="Text 11"/>
          <p:cNvSpPr/>
          <p:nvPr/>
        </p:nvSpPr>
        <p:spPr>
          <a:xfrm>
            <a:off x="4754880" y="3383280"/>
            <a:ext cx="3931920" cy="32004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残された課題</a:t>
            </a:r>
            <a:endParaRPr lang="en-US" sz="1300" dirty="0"/>
          </a:p>
        </p:txBody>
      </p:sp>
      <p:sp>
        <p:nvSpPr>
          <p:cNvPr id="14" name="Shape 12"/>
          <p:cNvSpPr/>
          <p:nvPr/>
        </p:nvSpPr>
        <p:spPr>
          <a:xfrm>
            <a:off x="4754880" y="3703320"/>
            <a:ext cx="3931920" cy="1051560"/>
          </a:xfrm>
          <a:prstGeom prst="rect">
            <a:avLst/>
          </a:prstGeom>
          <a:solidFill>
            <a:srgbClr val="FFFFFF"/>
          </a:solidFill>
          <a:ln w="12700">
            <a:solidFill>
              <a:srgbClr val="2B3A5B"/>
            </a:solidFill>
            <a:prstDash val="solid"/>
          </a:ln>
        </p:spPr>
      </p:sp>
      <p:sp>
        <p:nvSpPr>
          <p:cNvPr id="15" name="Text 13"/>
          <p:cNvSpPr/>
          <p:nvPr/>
        </p:nvSpPr>
        <p:spPr>
          <a:xfrm>
            <a:off x="4892040" y="3794760"/>
            <a:ext cx="3657600" cy="868680"/>
          </a:xfrm>
          <a:prstGeom prst="rect">
            <a:avLst/>
          </a:prstGeom>
          <a:noFill/>
          <a:ln/>
        </p:spPr>
        <p:txBody>
          <a:bodyPr wrap="square" rtlCol="0" anchor="t"/>
          <a:lstStyle/>
          <a:p>
            <a:pPr indent="0" marL="0">
              <a:buNone/>
            </a:pPr>
            <a:r>
              <a:rPr lang="en-US" sz="1100" dirty="0">
                <a:solidFill>
                  <a:srgbClr val="333333"/>
                </a:solidFill>
                <a:latin typeface="Calibri" pitchFamily="34" charset="0"/>
                <a:ea typeface="Calibri" pitchFamily="34" charset="-122"/>
                <a:cs typeface="Calibri" pitchFamily="34" charset="-120"/>
              </a:rPr>
              <a:t>文化的に普遍的な行動を確認し、生物学的・進化的なルーツをもつことを実証する必要がある</a:t>
            </a:r>
            <a:endParaRPr lang="en-US" sz="1100" dirty="0"/>
          </a:p>
          <a:p>
            <a:pPr indent="0" marL="0">
              <a:buNone/>
            </a:pP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→これはまだ十分に達成されていない</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3A5B"/>
                </a:solidFill>
                <a:latin typeface="Georgia" pitchFamily="34" charset="0"/>
                <a:ea typeface="Georgia" pitchFamily="34" charset="-122"/>
                <a:cs typeface="Georgia" pitchFamily="34" charset="-120"/>
              </a:rPr>
              <a:t>進化心理学の発展と今後</a:t>
            </a:r>
            <a:endParaRPr lang="en-US" sz="2800" dirty="0"/>
          </a:p>
        </p:txBody>
      </p:sp>
      <p:sp>
        <p:nvSpPr>
          <p:cNvPr id="3" name="Shape 1"/>
          <p:cNvSpPr/>
          <p:nvPr/>
        </p:nvSpPr>
        <p:spPr>
          <a:xfrm>
            <a:off x="457200" y="868680"/>
            <a:ext cx="1371600" cy="45720"/>
          </a:xfrm>
          <a:prstGeom prst="rect">
            <a:avLst/>
          </a:prstGeom>
          <a:solidFill>
            <a:srgbClr val="D4A85A"/>
          </a:solidFill>
          <a:ln/>
        </p:spPr>
      </p:sp>
      <p:sp>
        <p:nvSpPr>
          <p:cNvPr id="4" name="Shape 2"/>
          <p:cNvSpPr/>
          <p:nvPr/>
        </p:nvSpPr>
        <p:spPr>
          <a:xfrm>
            <a:off x="457200" y="1280160"/>
            <a:ext cx="8229600" cy="54864"/>
          </a:xfrm>
          <a:prstGeom prst="rect">
            <a:avLst/>
          </a:prstGeom>
          <a:solidFill>
            <a:srgbClr val="D4A85A"/>
          </a:solidFill>
          <a:ln/>
        </p:spPr>
      </p:sp>
      <p:sp>
        <p:nvSpPr>
          <p:cNvPr id="5" name="Shape 3"/>
          <p:cNvSpPr/>
          <p:nvPr/>
        </p:nvSpPr>
        <p:spPr>
          <a:xfrm>
            <a:off x="731520" y="1216152"/>
            <a:ext cx="182880" cy="182880"/>
          </a:xfrm>
          <a:prstGeom prst="ellipse">
            <a:avLst/>
          </a:prstGeom>
          <a:solidFill>
            <a:srgbClr val="2B3A5B"/>
          </a:solidFill>
          <a:ln/>
        </p:spPr>
      </p:sp>
      <p:sp>
        <p:nvSpPr>
          <p:cNvPr id="6" name="Text 4"/>
          <p:cNvSpPr/>
          <p:nvPr/>
        </p:nvSpPr>
        <p:spPr>
          <a:xfrm>
            <a:off x="274320" y="1417320"/>
            <a:ext cx="1097280" cy="274320"/>
          </a:xfrm>
          <a:prstGeom prst="rect">
            <a:avLst/>
          </a:prstGeom>
          <a:noFill/>
          <a:ln/>
        </p:spPr>
        <p:txBody>
          <a:bodyPr wrap="square" rtlCol="0" anchor="ctr"/>
          <a:lstStyle/>
          <a:p>
            <a:pPr algn="ctr" indent="0" marL="0">
              <a:buNone/>
            </a:pPr>
            <a:r>
              <a:rPr lang="en-US" sz="1000" b="1" dirty="0">
                <a:solidFill>
                  <a:srgbClr val="2B3A5B"/>
                </a:solidFill>
                <a:latin typeface="Georgia" pitchFamily="34" charset="0"/>
                <a:ea typeface="Georgia" pitchFamily="34" charset="-122"/>
                <a:cs typeface="Georgia" pitchFamily="34" charset="-120"/>
              </a:rPr>
              <a:t>1980年代</a:t>
            </a:r>
            <a:endParaRPr lang="en-US" sz="1000" dirty="0"/>
          </a:p>
        </p:txBody>
      </p:sp>
      <p:sp>
        <p:nvSpPr>
          <p:cNvPr id="7" name="Text 5"/>
          <p:cNvSpPr/>
          <p:nvPr/>
        </p:nvSpPr>
        <p:spPr>
          <a:xfrm>
            <a:off x="182880" y="1691640"/>
            <a:ext cx="1280160" cy="548640"/>
          </a:xfrm>
          <a:prstGeom prst="rect">
            <a:avLst/>
          </a:prstGeom>
          <a:noFill/>
          <a:ln/>
        </p:spPr>
        <p:txBody>
          <a:bodyPr wrap="square" rtlCol="0" anchor="ctr"/>
          <a:lstStyle/>
          <a:p>
            <a:pPr algn="ctr" indent="0" marL="0">
              <a:buNone/>
            </a:pPr>
            <a:r>
              <a:rPr lang="en-US" sz="900" dirty="0">
                <a:solidFill>
                  <a:srgbClr val="333333"/>
                </a:solidFill>
                <a:latin typeface="Calibri" pitchFamily="34" charset="0"/>
                <a:ea typeface="Calibri" pitchFamily="34" charset="-122"/>
                <a:cs typeface="Calibri" pitchFamily="34" charset="-120"/>
              </a:rPr>
              <a:t>デヴィッド・バスらが</a:t>
            </a:r>
            <a:endParaRPr lang="en-US" sz="900" dirty="0"/>
          </a:p>
          <a:p>
            <a:pPr algn="ctr" indent="0" marL="0">
              <a:buNone/>
            </a:pPr>
            <a:r>
              <a:rPr lang="en-US" sz="900" dirty="0">
                <a:solidFill>
                  <a:srgbClr val="333333"/>
                </a:solidFill>
                <a:latin typeface="Calibri" pitchFamily="34" charset="0"/>
                <a:ea typeface="Calibri" pitchFamily="34" charset="-122"/>
                <a:cs typeface="Calibri" pitchFamily="34" charset="-120"/>
              </a:rPr>
              <a:t>配偶者選好の研究開始</a:t>
            </a:r>
            <a:endParaRPr lang="en-US" sz="900" dirty="0"/>
          </a:p>
        </p:txBody>
      </p:sp>
      <p:sp>
        <p:nvSpPr>
          <p:cNvPr id="8" name="Shape 6"/>
          <p:cNvSpPr/>
          <p:nvPr/>
        </p:nvSpPr>
        <p:spPr>
          <a:xfrm>
            <a:off x="2926080" y="1216152"/>
            <a:ext cx="182880" cy="182880"/>
          </a:xfrm>
          <a:prstGeom prst="ellipse">
            <a:avLst/>
          </a:prstGeom>
          <a:solidFill>
            <a:srgbClr val="2B3A5B"/>
          </a:solidFill>
          <a:ln/>
        </p:spPr>
      </p:sp>
      <p:sp>
        <p:nvSpPr>
          <p:cNvPr id="9" name="Text 7"/>
          <p:cNvSpPr/>
          <p:nvPr/>
        </p:nvSpPr>
        <p:spPr>
          <a:xfrm>
            <a:off x="2468880" y="1417320"/>
            <a:ext cx="1097280" cy="274320"/>
          </a:xfrm>
          <a:prstGeom prst="rect">
            <a:avLst/>
          </a:prstGeom>
          <a:noFill/>
          <a:ln/>
        </p:spPr>
        <p:txBody>
          <a:bodyPr wrap="square" rtlCol="0" anchor="ctr"/>
          <a:lstStyle/>
          <a:p>
            <a:pPr algn="ctr" indent="0" marL="0">
              <a:buNone/>
            </a:pPr>
            <a:r>
              <a:rPr lang="en-US" sz="1000" b="1" dirty="0">
                <a:solidFill>
                  <a:srgbClr val="2B3A5B"/>
                </a:solidFill>
                <a:latin typeface="Georgia" pitchFamily="34" charset="0"/>
                <a:ea typeface="Georgia" pitchFamily="34" charset="-122"/>
                <a:cs typeface="Georgia" pitchFamily="34" charset="-120"/>
              </a:rPr>
              <a:t>1994年</a:t>
            </a:r>
            <a:endParaRPr lang="en-US" sz="1000" dirty="0"/>
          </a:p>
        </p:txBody>
      </p:sp>
      <p:sp>
        <p:nvSpPr>
          <p:cNvPr id="10" name="Text 8"/>
          <p:cNvSpPr/>
          <p:nvPr/>
        </p:nvSpPr>
        <p:spPr>
          <a:xfrm>
            <a:off x="2377440" y="1691640"/>
            <a:ext cx="1280160" cy="548640"/>
          </a:xfrm>
          <a:prstGeom prst="rect">
            <a:avLst/>
          </a:prstGeom>
          <a:noFill/>
          <a:ln/>
        </p:spPr>
        <p:txBody>
          <a:bodyPr wrap="square" rtlCol="0" anchor="ctr"/>
          <a:lstStyle/>
          <a:p>
            <a:pPr algn="ctr" indent="0" marL="0">
              <a:buNone/>
            </a:pPr>
            <a:r>
              <a:rPr lang="en-US" sz="900" dirty="0">
                <a:solidFill>
                  <a:srgbClr val="333333"/>
                </a:solidFill>
                <a:latin typeface="Calibri" pitchFamily="34" charset="0"/>
                <a:ea typeface="Calibri" pitchFamily="34" charset="-122"/>
                <a:cs typeface="Calibri" pitchFamily="34" charset="-120"/>
              </a:rPr>
              <a:t>ライト『モラル・アニマル』</a:t>
            </a:r>
            <a:endParaRPr lang="en-US" sz="900" dirty="0"/>
          </a:p>
          <a:p>
            <a:pPr algn="ctr" indent="0" marL="0">
              <a:buNone/>
            </a:pPr>
            <a:r>
              <a:rPr lang="en-US" sz="900" dirty="0">
                <a:solidFill>
                  <a:srgbClr val="333333"/>
                </a:solidFill>
                <a:latin typeface="Calibri" pitchFamily="34" charset="0"/>
                <a:ea typeface="Calibri" pitchFamily="34" charset="-122"/>
                <a:cs typeface="Calibri" pitchFamily="34" charset="-120"/>
              </a:rPr>
              <a:t>出版、ベストセラーに</a:t>
            </a:r>
            <a:endParaRPr lang="en-US" sz="900" dirty="0"/>
          </a:p>
        </p:txBody>
      </p:sp>
      <p:sp>
        <p:nvSpPr>
          <p:cNvPr id="11" name="Shape 9"/>
          <p:cNvSpPr/>
          <p:nvPr/>
        </p:nvSpPr>
        <p:spPr>
          <a:xfrm>
            <a:off x="5120640" y="1216152"/>
            <a:ext cx="182880" cy="182880"/>
          </a:xfrm>
          <a:prstGeom prst="ellipse">
            <a:avLst/>
          </a:prstGeom>
          <a:solidFill>
            <a:srgbClr val="2B3A5B"/>
          </a:solidFill>
          <a:ln/>
        </p:spPr>
      </p:sp>
      <p:sp>
        <p:nvSpPr>
          <p:cNvPr id="12" name="Text 10"/>
          <p:cNvSpPr/>
          <p:nvPr/>
        </p:nvSpPr>
        <p:spPr>
          <a:xfrm>
            <a:off x="4663440" y="1417320"/>
            <a:ext cx="1097280" cy="274320"/>
          </a:xfrm>
          <a:prstGeom prst="rect">
            <a:avLst/>
          </a:prstGeom>
          <a:noFill/>
          <a:ln/>
        </p:spPr>
        <p:txBody>
          <a:bodyPr wrap="square" rtlCol="0" anchor="ctr"/>
          <a:lstStyle/>
          <a:p>
            <a:pPr algn="ctr" indent="0" marL="0">
              <a:buNone/>
            </a:pPr>
            <a:r>
              <a:rPr lang="en-US" sz="1000" b="1" dirty="0">
                <a:solidFill>
                  <a:srgbClr val="2B3A5B"/>
                </a:solidFill>
                <a:latin typeface="Georgia" pitchFamily="34" charset="0"/>
                <a:ea typeface="Georgia" pitchFamily="34" charset="-122"/>
                <a:cs typeface="Georgia" pitchFamily="34" charset="-120"/>
              </a:rPr>
              <a:t>2004年</a:t>
            </a:r>
            <a:endParaRPr lang="en-US" sz="1000" dirty="0"/>
          </a:p>
        </p:txBody>
      </p:sp>
      <p:sp>
        <p:nvSpPr>
          <p:cNvPr id="13" name="Text 11"/>
          <p:cNvSpPr/>
          <p:nvPr/>
        </p:nvSpPr>
        <p:spPr>
          <a:xfrm>
            <a:off x="4572000" y="1691640"/>
            <a:ext cx="1280160" cy="548640"/>
          </a:xfrm>
          <a:prstGeom prst="rect">
            <a:avLst/>
          </a:prstGeom>
          <a:noFill/>
          <a:ln/>
        </p:spPr>
        <p:txBody>
          <a:bodyPr wrap="square" rtlCol="0" anchor="ctr"/>
          <a:lstStyle/>
          <a:p>
            <a:pPr algn="ctr" indent="0" marL="0">
              <a:buNone/>
            </a:pPr>
            <a:r>
              <a:rPr lang="en-US" sz="900" dirty="0">
                <a:solidFill>
                  <a:srgbClr val="333333"/>
                </a:solidFill>
                <a:latin typeface="Calibri" pitchFamily="34" charset="0"/>
                <a:ea typeface="Calibri" pitchFamily="34" charset="-122"/>
                <a:cs typeface="Calibri" pitchFamily="34" charset="-120"/>
              </a:rPr>
              <a:t>第17回人間行動</a:t>
            </a:r>
            <a:endParaRPr lang="en-US" sz="900" dirty="0"/>
          </a:p>
          <a:p>
            <a:pPr algn="ctr" indent="0" marL="0">
              <a:buNone/>
            </a:pPr>
            <a:r>
              <a:rPr lang="en-US" sz="900" dirty="0">
                <a:solidFill>
                  <a:srgbClr val="333333"/>
                </a:solidFill>
                <a:latin typeface="Calibri" pitchFamily="34" charset="0"/>
                <a:ea typeface="Calibri" pitchFamily="34" charset="-122"/>
                <a:cs typeface="Calibri" pitchFamily="34" charset="-120"/>
              </a:rPr>
              <a:t>進化学会年次総会</a:t>
            </a:r>
            <a:endParaRPr lang="en-US" sz="900" dirty="0"/>
          </a:p>
        </p:txBody>
      </p:sp>
      <p:sp>
        <p:nvSpPr>
          <p:cNvPr id="14" name="Shape 12"/>
          <p:cNvSpPr/>
          <p:nvPr/>
        </p:nvSpPr>
        <p:spPr>
          <a:xfrm>
            <a:off x="7315200" y="1216152"/>
            <a:ext cx="182880" cy="182880"/>
          </a:xfrm>
          <a:prstGeom prst="ellipse">
            <a:avLst/>
          </a:prstGeom>
          <a:solidFill>
            <a:srgbClr val="2B3A5B"/>
          </a:solidFill>
          <a:ln/>
        </p:spPr>
      </p:sp>
      <p:sp>
        <p:nvSpPr>
          <p:cNvPr id="15" name="Text 13"/>
          <p:cNvSpPr/>
          <p:nvPr/>
        </p:nvSpPr>
        <p:spPr>
          <a:xfrm>
            <a:off x="6858000" y="1417320"/>
            <a:ext cx="1097280" cy="274320"/>
          </a:xfrm>
          <a:prstGeom prst="rect">
            <a:avLst/>
          </a:prstGeom>
          <a:noFill/>
          <a:ln/>
        </p:spPr>
        <p:txBody>
          <a:bodyPr wrap="square" rtlCol="0" anchor="ctr"/>
          <a:lstStyle/>
          <a:p>
            <a:pPr algn="ctr" indent="0" marL="0">
              <a:buNone/>
            </a:pPr>
            <a:r>
              <a:rPr lang="en-US" sz="1000" b="1" dirty="0">
                <a:solidFill>
                  <a:srgbClr val="2B3A5B"/>
                </a:solidFill>
                <a:latin typeface="Georgia" pitchFamily="34" charset="0"/>
                <a:ea typeface="Georgia" pitchFamily="34" charset="-122"/>
                <a:cs typeface="Georgia" pitchFamily="34" charset="-120"/>
              </a:rPr>
              <a:t>現在</a:t>
            </a:r>
            <a:endParaRPr lang="en-US" sz="1000" dirty="0"/>
          </a:p>
        </p:txBody>
      </p:sp>
      <p:sp>
        <p:nvSpPr>
          <p:cNvPr id="16" name="Text 14"/>
          <p:cNvSpPr/>
          <p:nvPr/>
        </p:nvSpPr>
        <p:spPr>
          <a:xfrm>
            <a:off x="6766560" y="1691640"/>
            <a:ext cx="1280160" cy="548640"/>
          </a:xfrm>
          <a:prstGeom prst="rect">
            <a:avLst/>
          </a:prstGeom>
          <a:noFill/>
          <a:ln/>
        </p:spPr>
        <p:txBody>
          <a:bodyPr wrap="square" rtlCol="0" anchor="ctr"/>
          <a:lstStyle/>
          <a:p>
            <a:pPr algn="ctr" indent="0" marL="0">
              <a:buNone/>
            </a:pPr>
            <a:r>
              <a:rPr lang="en-US" sz="900" dirty="0">
                <a:solidFill>
                  <a:srgbClr val="333333"/>
                </a:solidFill>
                <a:latin typeface="Calibri" pitchFamily="34" charset="0"/>
                <a:ea typeface="Calibri" pitchFamily="34" charset="-122"/>
                <a:cs typeface="Calibri" pitchFamily="34" charset="-120"/>
              </a:rPr>
              <a:t>国際的な広がり</a:t>
            </a:r>
            <a:endParaRPr lang="en-US" sz="900" dirty="0"/>
          </a:p>
          <a:p>
            <a:pPr algn="ctr" indent="0" marL="0">
              <a:buNone/>
            </a:pPr>
            <a:r>
              <a:rPr lang="en-US" sz="900" dirty="0">
                <a:solidFill>
                  <a:srgbClr val="333333"/>
                </a:solidFill>
                <a:latin typeface="Calibri" pitchFamily="34" charset="0"/>
                <a:ea typeface="Calibri" pitchFamily="34" charset="-122"/>
                <a:cs typeface="Calibri" pitchFamily="34" charset="-120"/>
              </a:rPr>
              <a:t>（米英日ベルギー等）</a:t>
            </a:r>
            <a:endParaRPr lang="en-US" sz="900" dirty="0"/>
          </a:p>
        </p:txBody>
      </p:sp>
      <p:sp>
        <p:nvSpPr>
          <p:cNvPr id="17" name="Text 15"/>
          <p:cNvSpPr/>
          <p:nvPr/>
        </p:nvSpPr>
        <p:spPr>
          <a:xfrm>
            <a:off x="457200" y="2468880"/>
            <a:ext cx="8229600" cy="365760"/>
          </a:xfrm>
          <a:prstGeom prst="rect">
            <a:avLst/>
          </a:prstGeom>
          <a:noFill/>
          <a:ln/>
        </p:spPr>
        <p:txBody>
          <a:bodyPr wrap="square" rtlCol="0" anchor="ctr"/>
          <a:lstStyle/>
          <a:p>
            <a:pPr indent="0" marL="0">
              <a:buNone/>
            </a:pPr>
            <a:r>
              <a:rPr lang="en-US" sz="1600" b="1" dirty="0">
                <a:solidFill>
                  <a:srgbClr val="2B3A5B"/>
                </a:solidFill>
                <a:latin typeface="Georgia" pitchFamily="34" charset="0"/>
                <a:ea typeface="Georgia" pitchFamily="34" charset="-122"/>
                <a:cs typeface="Georgia" pitchFamily="34" charset="-120"/>
              </a:rPr>
              <a:t>学問としての成長</a:t>
            </a:r>
            <a:endParaRPr lang="en-US" sz="1600" dirty="0"/>
          </a:p>
        </p:txBody>
      </p:sp>
      <p:sp>
        <p:nvSpPr>
          <p:cNvPr id="18" name="Shape 16"/>
          <p:cNvSpPr/>
          <p:nvPr/>
        </p:nvSpPr>
        <p:spPr>
          <a:xfrm>
            <a:off x="457200" y="2926080"/>
            <a:ext cx="3931920" cy="731520"/>
          </a:xfrm>
          <a:prstGeom prst="rect">
            <a:avLst/>
          </a:prstGeom>
          <a:solidFill>
            <a:srgbClr val="FFFFFF"/>
          </a:solidFill>
          <a:ln w="12700">
            <a:solidFill>
              <a:srgbClr val="D4A85A"/>
            </a:solidFill>
            <a:prstDash val="solid"/>
          </a:ln>
        </p:spPr>
      </p:sp>
      <p:sp>
        <p:nvSpPr>
          <p:cNvPr id="19" name="Text 17"/>
          <p:cNvSpPr/>
          <p:nvPr/>
        </p:nvSpPr>
        <p:spPr>
          <a:xfrm>
            <a:off x="594360" y="3017520"/>
            <a:ext cx="3657600" cy="274320"/>
          </a:xfrm>
          <a:prstGeom prst="rect">
            <a:avLst/>
          </a:prstGeom>
          <a:noFill/>
          <a:ln/>
        </p:spPr>
        <p:txBody>
          <a:bodyPr wrap="square" rtlCol="0" anchor="ctr"/>
          <a:lstStyle/>
          <a:p>
            <a:pPr indent="0" marL="0">
              <a:buNone/>
            </a:pPr>
            <a:r>
              <a:rPr lang="en-US" sz="1200" b="1" dirty="0">
                <a:solidFill>
                  <a:srgbClr val="2B3A5B"/>
                </a:solidFill>
                <a:latin typeface="Georgia" pitchFamily="34" charset="0"/>
                <a:ea typeface="Georgia" pitchFamily="34" charset="-122"/>
                <a:cs typeface="Georgia" pitchFamily="34" charset="-120"/>
              </a:rPr>
              <a:t>参加者数の増加</a:t>
            </a:r>
            <a:endParaRPr lang="en-US" sz="1200" dirty="0"/>
          </a:p>
        </p:txBody>
      </p:sp>
      <p:sp>
        <p:nvSpPr>
          <p:cNvPr id="20" name="Text 18"/>
          <p:cNvSpPr/>
          <p:nvPr/>
        </p:nvSpPr>
        <p:spPr>
          <a:xfrm>
            <a:off x="594360" y="3291840"/>
            <a:ext cx="3657600" cy="32004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年次総会の参加者は500人近くに</a:t>
            </a:r>
            <a:endParaRPr lang="en-US" sz="1000" dirty="0"/>
          </a:p>
        </p:txBody>
      </p:sp>
      <p:sp>
        <p:nvSpPr>
          <p:cNvPr id="21" name="Shape 19"/>
          <p:cNvSpPr/>
          <p:nvPr/>
        </p:nvSpPr>
        <p:spPr>
          <a:xfrm>
            <a:off x="457200" y="3749040"/>
            <a:ext cx="3931920" cy="731520"/>
          </a:xfrm>
          <a:prstGeom prst="rect">
            <a:avLst/>
          </a:prstGeom>
          <a:solidFill>
            <a:srgbClr val="FFFFFF"/>
          </a:solidFill>
          <a:ln w="12700">
            <a:solidFill>
              <a:srgbClr val="D4A85A"/>
            </a:solidFill>
            <a:prstDash val="solid"/>
          </a:ln>
        </p:spPr>
      </p:sp>
      <p:sp>
        <p:nvSpPr>
          <p:cNvPr id="22" name="Text 20"/>
          <p:cNvSpPr/>
          <p:nvPr/>
        </p:nvSpPr>
        <p:spPr>
          <a:xfrm>
            <a:off x="594360" y="3840480"/>
            <a:ext cx="3657600" cy="274320"/>
          </a:xfrm>
          <a:prstGeom prst="rect">
            <a:avLst/>
          </a:prstGeom>
          <a:noFill/>
          <a:ln/>
        </p:spPr>
        <p:txBody>
          <a:bodyPr wrap="square" rtlCol="0" anchor="ctr"/>
          <a:lstStyle/>
          <a:p>
            <a:pPr indent="0" marL="0">
              <a:buNone/>
            </a:pPr>
            <a:r>
              <a:rPr lang="en-US" sz="1200" b="1" dirty="0">
                <a:solidFill>
                  <a:srgbClr val="2B3A5B"/>
                </a:solidFill>
                <a:latin typeface="Georgia" pitchFamily="34" charset="0"/>
                <a:ea typeface="Georgia" pitchFamily="34" charset="-122"/>
                <a:cs typeface="Georgia" pitchFamily="34" charset="-120"/>
              </a:rPr>
              <a:t>国際的な広がり</a:t>
            </a:r>
            <a:endParaRPr lang="en-US" sz="1200" dirty="0"/>
          </a:p>
        </p:txBody>
      </p:sp>
      <p:sp>
        <p:nvSpPr>
          <p:cNvPr id="23" name="Text 21"/>
          <p:cNvSpPr/>
          <p:nvPr/>
        </p:nvSpPr>
        <p:spPr>
          <a:xfrm>
            <a:off x="594360" y="4114800"/>
            <a:ext cx="3657600" cy="32004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アメリカ・イギリスに加え、日本とベルギーにも多くの研究者</a:t>
            </a:r>
            <a:endParaRPr lang="en-US" sz="1000" dirty="0"/>
          </a:p>
        </p:txBody>
      </p:sp>
      <p:sp>
        <p:nvSpPr>
          <p:cNvPr id="24" name="Shape 22"/>
          <p:cNvSpPr/>
          <p:nvPr/>
        </p:nvSpPr>
        <p:spPr>
          <a:xfrm>
            <a:off x="4572000" y="2926080"/>
            <a:ext cx="3931920" cy="731520"/>
          </a:xfrm>
          <a:prstGeom prst="rect">
            <a:avLst/>
          </a:prstGeom>
          <a:solidFill>
            <a:srgbClr val="FFFFFF"/>
          </a:solidFill>
          <a:ln w="12700">
            <a:solidFill>
              <a:srgbClr val="D4A85A"/>
            </a:solidFill>
            <a:prstDash val="solid"/>
          </a:ln>
        </p:spPr>
      </p:sp>
      <p:sp>
        <p:nvSpPr>
          <p:cNvPr id="25" name="Text 23"/>
          <p:cNvSpPr/>
          <p:nvPr/>
        </p:nvSpPr>
        <p:spPr>
          <a:xfrm>
            <a:off x="4709160" y="3017520"/>
            <a:ext cx="3657600" cy="274320"/>
          </a:xfrm>
          <a:prstGeom prst="rect">
            <a:avLst/>
          </a:prstGeom>
          <a:noFill/>
          <a:ln/>
        </p:spPr>
        <p:txBody>
          <a:bodyPr wrap="square" rtlCol="0" anchor="ctr"/>
          <a:lstStyle/>
          <a:p>
            <a:pPr indent="0" marL="0">
              <a:buNone/>
            </a:pPr>
            <a:r>
              <a:rPr lang="en-US" sz="1200" b="1" dirty="0">
                <a:solidFill>
                  <a:srgbClr val="2B3A5B"/>
                </a:solidFill>
                <a:latin typeface="Georgia" pitchFamily="34" charset="0"/>
                <a:ea typeface="Georgia" pitchFamily="34" charset="-122"/>
                <a:cs typeface="Georgia" pitchFamily="34" charset="-120"/>
              </a:rPr>
              <a:t>学際的発展</a:t>
            </a:r>
            <a:endParaRPr lang="en-US" sz="1200" dirty="0"/>
          </a:p>
        </p:txBody>
      </p:sp>
      <p:sp>
        <p:nvSpPr>
          <p:cNvPr id="26" name="Text 24"/>
          <p:cNvSpPr/>
          <p:nvPr/>
        </p:nvSpPr>
        <p:spPr>
          <a:xfrm>
            <a:off x="4709160" y="3291840"/>
            <a:ext cx="3657600" cy="32004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心理学だけでなく、人類学や経済学など他分野との連携</a:t>
            </a:r>
            <a:endParaRPr lang="en-US" sz="1000" dirty="0"/>
          </a:p>
        </p:txBody>
      </p:sp>
      <p:sp>
        <p:nvSpPr>
          <p:cNvPr id="27" name="Shape 25"/>
          <p:cNvSpPr/>
          <p:nvPr/>
        </p:nvSpPr>
        <p:spPr>
          <a:xfrm>
            <a:off x="4572000" y="3749040"/>
            <a:ext cx="3931920" cy="731520"/>
          </a:xfrm>
          <a:prstGeom prst="rect">
            <a:avLst/>
          </a:prstGeom>
          <a:solidFill>
            <a:srgbClr val="FFFFFF"/>
          </a:solidFill>
          <a:ln w="12700">
            <a:solidFill>
              <a:srgbClr val="D4A85A"/>
            </a:solidFill>
            <a:prstDash val="solid"/>
          </a:ln>
        </p:spPr>
      </p:sp>
      <p:sp>
        <p:nvSpPr>
          <p:cNvPr id="28" name="Text 26"/>
          <p:cNvSpPr/>
          <p:nvPr/>
        </p:nvSpPr>
        <p:spPr>
          <a:xfrm>
            <a:off x="4709160" y="3840480"/>
            <a:ext cx="3657600" cy="274320"/>
          </a:xfrm>
          <a:prstGeom prst="rect">
            <a:avLst/>
          </a:prstGeom>
          <a:noFill/>
          <a:ln/>
        </p:spPr>
        <p:txBody>
          <a:bodyPr wrap="square" rtlCol="0" anchor="ctr"/>
          <a:lstStyle/>
          <a:p>
            <a:pPr indent="0" marL="0">
              <a:buNone/>
            </a:pPr>
            <a:r>
              <a:rPr lang="en-US" sz="1200" b="1" dirty="0">
                <a:solidFill>
                  <a:srgbClr val="2B3A5B"/>
                </a:solidFill>
                <a:latin typeface="Georgia" pitchFamily="34" charset="0"/>
                <a:ea typeface="Georgia" pitchFamily="34" charset="-122"/>
                <a:cs typeface="Georgia" pitchFamily="34" charset="-120"/>
              </a:rPr>
              <a:t>若い研究者の参入</a:t>
            </a:r>
            <a:endParaRPr lang="en-US" sz="1200" dirty="0"/>
          </a:p>
        </p:txBody>
      </p:sp>
      <p:sp>
        <p:nvSpPr>
          <p:cNvPr id="29" name="Text 27"/>
          <p:cNvSpPr/>
          <p:nvPr/>
        </p:nvSpPr>
        <p:spPr>
          <a:xfrm>
            <a:off x="4709160" y="4114800"/>
            <a:ext cx="3657600" cy="32004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多くの「農夫」がこの新たな分野の開拓に加わっている</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3A5B"/>
                </a:solidFill>
                <a:latin typeface="Georgia" pitchFamily="34" charset="0"/>
                <a:ea typeface="Georgia" pitchFamily="34" charset="-122"/>
                <a:cs typeface="Georgia" pitchFamily="34" charset="-120"/>
              </a:rPr>
              <a:t>まとめ</a:t>
            </a:r>
            <a:endParaRPr lang="en-US" sz="2800" dirty="0"/>
          </a:p>
        </p:txBody>
      </p:sp>
      <p:sp>
        <p:nvSpPr>
          <p:cNvPr id="3" name="Shape 1"/>
          <p:cNvSpPr/>
          <p:nvPr/>
        </p:nvSpPr>
        <p:spPr>
          <a:xfrm>
            <a:off x="457200" y="868680"/>
            <a:ext cx="1371600" cy="45720"/>
          </a:xfrm>
          <a:prstGeom prst="rect">
            <a:avLst/>
          </a:prstGeom>
          <a:solidFill>
            <a:srgbClr val="D4A85A"/>
          </a:solidFill>
          <a:ln/>
        </p:spPr>
      </p:sp>
      <p:sp>
        <p:nvSpPr>
          <p:cNvPr id="4" name="Shape 2"/>
          <p:cNvSpPr/>
          <p:nvPr/>
        </p:nvSpPr>
        <p:spPr>
          <a:xfrm>
            <a:off x="457200" y="1097280"/>
            <a:ext cx="8229600" cy="1737360"/>
          </a:xfrm>
          <a:prstGeom prst="rect">
            <a:avLst/>
          </a:prstGeom>
          <a:solidFill>
            <a:srgbClr val="2B3A5B"/>
          </a:solidFill>
          <a:ln/>
        </p:spPr>
      </p:sp>
      <p:sp>
        <p:nvSpPr>
          <p:cNvPr id="5" name="Text 3"/>
          <p:cNvSpPr/>
          <p:nvPr/>
        </p:nvSpPr>
        <p:spPr>
          <a:xfrm>
            <a:off x="640080" y="1188720"/>
            <a:ext cx="7863840" cy="365760"/>
          </a:xfrm>
          <a:prstGeom prst="rect">
            <a:avLst/>
          </a:prstGeom>
          <a:noFill/>
          <a:ln/>
        </p:spPr>
        <p:txBody>
          <a:bodyPr wrap="square" rtlCol="0" anchor="ctr"/>
          <a:lstStyle/>
          <a:p>
            <a:pPr indent="0" marL="0">
              <a:buNone/>
            </a:pPr>
            <a:r>
              <a:rPr lang="en-US" sz="1600" b="1" dirty="0">
                <a:solidFill>
                  <a:srgbClr val="D4A85A"/>
                </a:solidFill>
                <a:latin typeface="Georgia" pitchFamily="34" charset="0"/>
                <a:ea typeface="Georgia" pitchFamily="34" charset="-122"/>
                <a:cs typeface="Georgia" pitchFamily="34" charset="-120"/>
              </a:rPr>
              <a:t>第9章の要点</a:t>
            </a:r>
            <a:endParaRPr lang="en-US" sz="1600" dirty="0"/>
          </a:p>
        </p:txBody>
      </p:sp>
      <p:sp>
        <p:nvSpPr>
          <p:cNvPr id="6" name="Shape 4"/>
          <p:cNvSpPr/>
          <p:nvPr/>
        </p:nvSpPr>
        <p:spPr>
          <a:xfrm>
            <a:off x="640080" y="1645920"/>
            <a:ext cx="91440" cy="91440"/>
          </a:xfrm>
          <a:prstGeom prst="ellipse">
            <a:avLst/>
          </a:prstGeom>
          <a:solidFill>
            <a:srgbClr val="D4A85A"/>
          </a:solidFill>
          <a:ln/>
        </p:spPr>
      </p:sp>
      <p:sp>
        <p:nvSpPr>
          <p:cNvPr id="7" name="Text 5"/>
          <p:cNvSpPr/>
          <p:nvPr/>
        </p:nvSpPr>
        <p:spPr>
          <a:xfrm>
            <a:off x="868680" y="1600200"/>
            <a:ext cx="763524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進化心理学には説明が困難な現象が存在する（同性愛、自殺、少子化など）</a:t>
            </a:r>
            <a:endParaRPr lang="en-US" sz="1200" dirty="0"/>
          </a:p>
        </p:txBody>
      </p:sp>
      <p:sp>
        <p:nvSpPr>
          <p:cNvPr id="8" name="Shape 6"/>
          <p:cNvSpPr/>
          <p:nvPr/>
        </p:nvSpPr>
        <p:spPr>
          <a:xfrm>
            <a:off x="640080" y="1965960"/>
            <a:ext cx="91440" cy="91440"/>
          </a:xfrm>
          <a:prstGeom prst="ellipse">
            <a:avLst/>
          </a:prstGeom>
          <a:solidFill>
            <a:srgbClr val="D4A85A"/>
          </a:solidFill>
          <a:ln/>
        </p:spPr>
      </p:sp>
      <p:sp>
        <p:nvSpPr>
          <p:cNvPr id="9" name="Text 7"/>
          <p:cNvSpPr/>
          <p:nvPr/>
        </p:nvSpPr>
        <p:spPr>
          <a:xfrm>
            <a:off x="868680" y="1920240"/>
            <a:ext cx="763524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6つの難問のうち、約半数には部分的な回答が出ている</a:t>
            </a:r>
            <a:endParaRPr lang="en-US" sz="1200" dirty="0"/>
          </a:p>
        </p:txBody>
      </p:sp>
      <p:sp>
        <p:nvSpPr>
          <p:cNvPr id="10" name="Shape 8"/>
          <p:cNvSpPr/>
          <p:nvPr/>
        </p:nvSpPr>
        <p:spPr>
          <a:xfrm>
            <a:off x="640080" y="2286000"/>
            <a:ext cx="91440" cy="91440"/>
          </a:xfrm>
          <a:prstGeom prst="ellipse">
            <a:avLst/>
          </a:prstGeom>
          <a:solidFill>
            <a:srgbClr val="D4A85A"/>
          </a:solidFill>
          <a:ln/>
        </p:spPr>
      </p:sp>
      <p:sp>
        <p:nvSpPr>
          <p:cNvPr id="11" name="Text 9"/>
          <p:cNvSpPr/>
          <p:nvPr/>
        </p:nvSpPr>
        <p:spPr>
          <a:xfrm>
            <a:off x="868680" y="2240280"/>
            <a:ext cx="763524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子が親を愛する理由、先進国の少子化など、追加の謎も残る</a:t>
            </a:r>
            <a:endParaRPr lang="en-US" sz="1200" dirty="0"/>
          </a:p>
        </p:txBody>
      </p:sp>
      <p:sp>
        <p:nvSpPr>
          <p:cNvPr id="12" name="Shape 10"/>
          <p:cNvSpPr/>
          <p:nvPr/>
        </p:nvSpPr>
        <p:spPr>
          <a:xfrm>
            <a:off x="640080" y="2606040"/>
            <a:ext cx="91440" cy="91440"/>
          </a:xfrm>
          <a:prstGeom prst="ellipse">
            <a:avLst/>
          </a:prstGeom>
          <a:solidFill>
            <a:srgbClr val="D4A85A"/>
          </a:solidFill>
          <a:ln/>
        </p:spPr>
      </p:sp>
      <p:sp>
        <p:nvSpPr>
          <p:cNvPr id="13" name="Text 11"/>
          <p:cNvSpPr/>
          <p:nvPr/>
        </p:nvSpPr>
        <p:spPr>
          <a:xfrm>
            <a:off x="868680" y="2560320"/>
            <a:ext cx="763524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学問として急速に発展中だが、残された理論的課題も多い</a:t>
            </a:r>
            <a:endParaRPr lang="en-US" sz="1200" dirty="0"/>
          </a:p>
        </p:txBody>
      </p:sp>
      <p:sp>
        <p:nvSpPr>
          <p:cNvPr id="14" name="Text 12"/>
          <p:cNvSpPr/>
          <p:nvPr/>
        </p:nvSpPr>
        <p:spPr>
          <a:xfrm>
            <a:off x="457200" y="3017520"/>
            <a:ext cx="8229600" cy="365760"/>
          </a:xfrm>
          <a:prstGeom prst="rect">
            <a:avLst/>
          </a:prstGeom>
          <a:noFill/>
          <a:ln/>
        </p:spPr>
        <p:txBody>
          <a:bodyPr wrap="square" rtlCol="0" anchor="ctr"/>
          <a:lstStyle/>
          <a:p>
            <a:pPr indent="0" marL="0">
              <a:buNone/>
            </a:pPr>
            <a:r>
              <a:rPr lang="en-US" sz="1600" b="1" dirty="0">
                <a:solidFill>
                  <a:srgbClr val="2B3A5B"/>
                </a:solidFill>
                <a:latin typeface="Georgia" pitchFamily="34" charset="0"/>
                <a:ea typeface="Georgia" pitchFamily="34" charset="-122"/>
                <a:cs typeface="Georgia" pitchFamily="34" charset="-120"/>
              </a:rPr>
              <a:t>ディスカッション</a:t>
            </a:r>
            <a:endParaRPr lang="en-US" sz="1600" dirty="0"/>
          </a:p>
        </p:txBody>
      </p:sp>
      <p:sp>
        <p:nvSpPr>
          <p:cNvPr id="15" name="Shape 13"/>
          <p:cNvSpPr/>
          <p:nvPr/>
        </p:nvSpPr>
        <p:spPr>
          <a:xfrm>
            <a:off x="457200" y="3474720"/>
            <a:ext cx="457200" cy="365760"/>
          </a:xfrm>
          <a:prstGeom prst="rect">
            <a:avLst/>
          </a:prstGeom>
          <a:solidFill>
            <a:srgbClr val="D4A85A"/>
          </a:solidFill>
          <a:ln/>
        </p:spPr>
      </p:sp>
      <p:sp>
        <p:nvSpPr>
          <p:cNvPr id="16" name="Text 14"/>
          <p:cNvSpPr/>
          <p:nvPr/>
        </p:nvSpPr>
        <p:spPr>
          <a:xfrm>
            <a:off x="457200" y="3474720"/>
            <a:ext cx="45720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Q1</a:t>
            </a:r>
            <a:endParaRPr lang="en-US" sz="1100" dirty="0"/>
          </a:p>
        </p:txBody>
      </p:sp>
      <p:sp>
        <p:nvSpPr>
          <p:cNvPr id="17" name="Text 15"/>
          <p:cNvSpPr/>
          <p:nvPr/>
        </p:nvSpPr>
        <p:spPr>
          <a:xfrm>
            <a:off x="1005840" y="3474720"/>
            <a:ext cx="7680960" cy="36576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進化心理学で説明できない現象があることは、この学問の価値を損なうか？</a:t>
            </a:r>
            <a:endParaRPr lang="en-US" sz="1300" dirty="0"/>
          </a:p>
        </p:txBody>
      </p:sp>
      <p:sp>
        <p:nvSpPr>
          <p:cNvPr id="18" name="Shape 16"/>
          <p:cNvSpPr/>
          <p:nvPr/>
        </p:nvSpPr>
        <p:spPr>
          <a:xfrm>
            <a:off x="457200" y="3977640"/>
            <a:ext cx="457200" cy="365760"/>
          </a:xfrm>
          <a:prstGeom prst="rect">
            <a:avLst/>
          </a:prstGeom>
          <a:solidFill>
            <a:srgbClr val="D4A85A"/>
          </a:solidFill>
          <a:ln/>
        </p:spPr>
      </p:sp>
      <p:sp>
        <p:nvSpPr>
          <p:cNvPr id="19" name="Text 17"/>
          <p:cNvSpPr/>
          <p:nvPr/>
        </p:nvSpPr>
        <p:spPr>
          <a:xfrm>
            <a:off x="457200" y="3977640"/>
            <a:ext cx="45720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Q2</a:t>
            </a:r>
            <a:endParaRPr lang="en-US" sz="1100" dirty="0"/>
          </a:p>
        </p:txBody>
      </p:sp>
      <p:sp>
        <p:nvSpPr>
          <p:cNvPr id="20" name="Text 18"/>
          <p:cNvSpPr/>
          <p:nvPr/>
        </p:nvSpPr>
        <p:spPr>
          <a:xfrm>
            <a:off x="1005840" y="3977640"/>
            <a:ext cx="7680960" cy="36576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「自然主義的誤謬」を避けつつ、進化心理学の知見を社会にどう活かせるか？</a:t>
            </a:r>
            <a:endParaRPr lang="en-US" sz="1300" dirty="0"/>
          </a:p>
        </p:txBody>
      </p:sp>
      <p:sp>
        <p:nvSpPr>
          <p:cNvPr id="21" name="Shape 19"/>
          <p:cNvSpPr/>
          <p:nvPr/>
        </p:nvSpPr>
        <p:spPr>
          <a:xfrm>
            <a:off x="457200" y="4480560"/>
            <a:ext cx="457200" cy="365760"/>
          </a:xfrm>
          <a:prstGeom prst="rect">
            <a:avLst/>
          </a:prstGeom>
          <a:solidFill>
            <a:srgbClr val="D4A85A"/>
          </a:solidFill>
          <a:ln/>
        </p:spPr>
      </p:sp>
      <p:sp>
        <p:nvSpPr>
          <p:cNvPr id="22" name="Text 20"/>
          <p:cNvSpPr/>
          <p:nvPr/>
        </p:nvSpPr>
        <p:spPr>
          <a:xfrm>
            <a:off x="457200" y="4480560"/>
            <a:ext cx="45720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Q3</a:t>
            </a:r>
            <a:endParaRPr lang="en-US" sz="1100" dirty="0"/>
          </a:p>
        </p:txBody>
      </p:sp>
      <p:sp>
        <p:nvSpPr>
          <p:cNvPr id="23" name="Text 21"/>
          <p:cNvSpPr/>
          <p:nvPr/>
        </p:nvSpPr>
        <p:spPr>
          <a:xfrm>
            <a:off x="1005840" y="4480560"/>
            <a:ext cx="7680960" cy="36576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あなた自身の行動で「進化心理学的に説明できそうなもの」は何かあるか？</a:t>
            </a:r>
            <a:endParaRPr lang="en-US" sz="1300" dirty="0"/>
          </a:p>
        </p:txBody>
      </p:sp>
      <p:sp>
        <p:nvSpPr>
          <p:cNvPr id="24" name="Text 22"/>
          <p:cNvSpPr/>
          <p:nvPr/>
        </p:nvSpPr>
        <p:spPr>
          <a:xfrm>
            <a:off x="457200" y="4663440"/>
            <a:ext cx="8229600" cy="365760"/>
          </a:xfrm>
          <a:prstGeom prst="rect">
            <a:avLst/>
          </a:prstGeom>
          <a:noFill/>
          <a:ln/>
        </p:spPr>
        <p:txBody>
          <a:bodyPr wrap="square" rtlCol="0" anchor="ctr"/>
          <a:lstStyle/>
          <a:p>
            <a:pPr algn="ctr" indent="0" marL="0">
              <a:buNone/>
            </a:pPr>
            <a:r>
              <a:rPr lang="en-US" sz="1400" i="1" dirty="0">
                <a:solidFill>
                  <a:srgbClr val="D4A85A"/>
                </a:solidFill>
                <a:latin typeface="Georgia" pitchFamily="34" charset="0"/>
                <a:ea typeface="Georgia" pitchFamily="34" charset="-122"/>
                <a:cs typeface="Georgia" pitchFamily="34" charset="-120"/>
              </a:rPr>
              <a:t>ご清聴ありがとうございました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第9章 おわりに——いくつかの難問</dc:title>
  <dc:subject>PptxGenJS Presentation</dc:subject>
  <dc:creator>Claude</dc:creator>
  <cp:lastModifiedBy>Claude</cp:lastModifiedBy>
  <cp:revision>1</cp:revision>
  <dcterms:created xsi:type="dcterms:W3CDTF">2026-01-28T04:24:04Z</dcterms:created>
  <dcterms:modified xsi:type="dcterms:W3CDTF">2026-01-28T04:24:04Z</dcterms:modified>
</cp:coreProperties>
</file>