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kX6J9N79Fd/w0ekiCQBde1Ycw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c19097326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bc19097326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bc19097326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4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第2章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男と女はなぜこんなに違うのか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5C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4E5C2"/>
                </a:solidFill>
                <a:latin typeface="Calibri"/>
                <a:ea typeface="Calibri"/>
                <a:cs typeface="Calibri"/>
                <a:sym typeface="Calibri"/>
              </a:rPr>
              <a:t>進化心理学から見た性差の起源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38404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2340"/>
                </a:solidFill>
                <a:latin typeface="Georgia"/>
                <a:ea typeface="Georgia"/>
                <a:cs typeface="Georgia"/>
                <a:sym typeface="Georgia"/>
              </a:rPr>
              <a:t>本章の概要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457200" y="1280160"/>
            <a:ext cx="402336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457200" y="1280160"/>
            <a:ext cx="73152" cy="15544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0480" y="1463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1280160" y="1554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A2340"/>
                </a:solidFill>
                <a:latin typeface="Georgia"/>
                <a:ea typeface="Georgia"/>
                <a:cs typeface="Georgia"/>
                <a:sym typeface="Georgia"/>
              </a:rPr>
              <a:t>SSSMの男女観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85800" y="21031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ジェンダーの社会化という考え方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663440" y="1280160"/>
            <a:ext cx="402336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663440" y="1280160"/>
            <a:ext cx="73152" cy="15544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892040" y="150876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892040" y="1508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" name="Google Shape;4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6720" y="1463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5486400" y="1554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A2340"/>
                </a:solidFill>
                <a:latin typeface="Georgia"/>
                <a:ea typeface="Georgia"/>
                <a:cs typeface="Georgia"/>
                <a:sym typeface="Georgia"/>
              </a:rPr>
              <a:t>生得的な性差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92040" y="21031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新生児・霊長類に見られる性差の証拠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3017520"/>
            <a:ext cx="402336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57200" y="3017520"/>
            <a:ext cx="73152" cy="15544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" name="Google Shape;4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40480" y="32004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1280160" y="32918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A2340"/>
                </a:solidFill>
                <a:latin typeface="Georgia"/>
                <a:ea typeface="Georgia"/>
                <a:cs typeface="Georgia"/>
                <a:sym typeface="Georgia"/>
              </a:rPr>
              <a:t>繁殖戦略の違い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85800" y="384048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適応度のばらつきと配偶者選択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663440" y="3017520"/>
            <a:ext cx="402336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663440" y="3017520"/>
            <a:ext cx="73152" cy="15544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892040" y="324612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892040" y="3246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6720" y="32004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/>
          <p:nvPr/>
        </p:nvSpPr>
        <p:spPr>
          <a:xfrm>
            <a:off x="5486400" y="32918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A2340"/>
                </a:solidFill>
                <a:latin typeface="Georgia"/>
                <a:ea typeface="Georgia"/>
                <a:cs typeface="Georgia"/>
                <a:sym typeface="Georgia"/>
              </a:rPr>
              <a:t>文化を超えた普遍性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892040" y="384048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世界共通の男女の好みの違い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340"/>
                </a:solidFill>
                <a:latin typeface="Georgia"/>
                <a:ea typeface="Georgia"/>
                <a:cs typeface="Georgia"/>
                <a:sym typeface="Georgia"/>
              </a:rPr>
              <a:t>標準社会科学モデル（SSSM）の男女観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57200" y="868680"/>
            <a:ext cx="18288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57200" y="1188720"/>
            <a:ext cx="73152" cy="12801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「ジェンダーの社会化」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31520" y="173736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男女の違いは、特定の文化や社会の中で男の子は男らしく、女の子は女らしく育てられることで生じる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57200" y="2651760"/>
            <a:ext cx="39319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57200" y="2651760"/>
            <a:ext cx="3931920" cy="457200"/>
          </a:xfrm>
          <a:prstGeom prst="rect">
            <a:avLst/>
          </a:prstGeom>
          <a:solidFill>
            <a:srgbClr val="2B3E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SSSMの主張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40080" y="3200400"/>
            <a:ext cx="3566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新生児は「まっさらな書字板」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男女差は解剖学的な違いを除けば同じ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行動・認知・価値観の違いは社会化の結果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文化・教育が男女差を形成する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754880" y="2651760"/>
            <a:ext cx="39319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4754880" y="2651760"/>
            <a:ext cx="393192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この見方の問題点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937760" y="3200400"/>
            <a:ext cx="3566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性差がジェンダーの社会化で生まれるなら、社会化される前の新生児に性差はないはず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しかし、実際には生後1日目から性差が見られる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340"/>
                </a:solidFill>
                <a:latin typeface="Georgia"/>
                <a:ea typeface="Georgia"/>
                <a:cs typeface="Georgia"/>
                <a:sym typeface="Georgia"/>
              </a:rPr>
              <a:t>新生児に見られる性差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57200" y="86868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2B3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2344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1280160" y="123444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サイモン・バロン＝コーエンらの研究（ケンブリッジ大学）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280160" y="160020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5C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4E5C2"/>
                </a:solidFill>
                <a:latin typeface="Calibri"/>
                <a:ea typeface="Calibri"/>
                <a:cs typeface="Calibri"/>
                <a:sym typeface="Calibri"/>
              </a:rPr>
              <a:t>生後1日の新生児102人（男児44人、女児58人）を対象に実験を実施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57200" y="2286000"/>
            <a:ext cx="39319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3120" y="23774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457200" y="29718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3E5C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B3E5C"/>
                </a:solidFill>
                <a:latin typeface="Georgia"/>
                <a:ea typeface="Georgia"/>
                <a:cs typeface="Georgia"/>
                <a:sym typeface="Georgia"/>
              </a:rPr>
              <a:t>男児の傾向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40080" y="3383280"/>
            <a:ext cx="3566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機械仕掛けのモビールをより長く見つめた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→ 物体・システムへの関心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人間の顔より機械に注意を向ける傾向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754880" y="2286000"/>
            <a:ext cx="39319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23774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4754880" y="29718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女児の傾向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937760" y="3383280"/>
            <a:ext cx="3566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人間の顔の写真をより長く見つめた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→ 人・社会的関係への関心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機械より人間に注意を向ける傾向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※ 生後1日では社会化の影響は考えられない → 生得的な性差の証拠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340"/>
                </a:solidFill>
                <a:latin typeface="Georgia"/>
                <a:ea typeface="Georgia"/>
                <a:cs typeface="Georgia"/>
                <a:sym typeface="Georgia"/>
              </a:rPr>
              <a:t>ベルベットモンキーの実験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57200" y="868680"/>
            <a:ext cx="18288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457200" y="1097280"/>
            <a:ext cx="73152" cy="8229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731520" y="1234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人間と接触したことのないベルベットモンキーに、人形やパトカーなどのおもちゃを与えて、どちらに興味を示すかを観察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57200" y="2103120"/>
            <a:ext cx="39319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457200" y="2103120"/>
            <a:ext cx="3931920" cy="457200"/>
          </a:xfrm>
          <a:prstGeom prst="rect">
            <a:avLst/>
          </a:prstGeom>
          <a:solidFill>
            <a:srgbClr val="2B3E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雄のサル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40080" y="2697480"/>
            <a:ext cx="3566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人間の男の子のように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パトカーを前後に押していた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→ 物体・機械への関心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754880" y="2103120"/>
            <a:ext cx="39319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4754880" y="2103120"/>
            <a:ext cx="3931920" cy="457200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雌のサル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937760" y="2697480"/>
            <a:ext cx="3566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人間の女の子のように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人形の性器のあたりを探っていた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→ 社会的対象への関心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57200" y="4480560"/>
            <a:ext cx="8229600" cy="5943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性差はジェンダーの社会化によるものではなく、文化を超えた普遍的な特性であり、他の動物にも共通する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340"/>
                </a:solidFill>
                <a:latin typeface="Georgia"/>
                <a:ea typeface="Georgia"/>
                <a:cs typeface="Georgia"/>
                <a:sym typeface="Georgia"/>
              </a:rPr>
              <a:t>適応度のばらつき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2B3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適応度（生涯繁殖成功度）とは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640080" y="160020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一生の間につくれる子供の数。理論上、男性には上限がないが、女性には上限がある（妊娠可能期間が限られるため）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57200" y="2377440"/>
            <a:ext cx="39319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8840" y="2468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457200" y="29718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3E5C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B3E5C"/>
                </a:solidFill>
                <a:latin typeface="Georgia"/>
                <a:ea typeface="Georgia"/>
                <a:cs typeface="Georgia"/>
                <a:sym typeface="Georgia"/>
              </a:rPr>
              <a:t>男性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40080" y="3337560"/>
            <a:ext cx="35661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適応度のばらつきが大きい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最低ライン：0人（一人も子供を残せない）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最高ライン：数百〜千人以上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→ ハイリスク・ハイリターン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754880" y="2377440"/>
            <a:ext cx="39319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6520" y="2468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/>
          <p:nvPr/>
        </p:nvSpPr>
        <p:spPr>
          <a:xfrm>
            <a:off x="4754880" y="29718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女性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937760" y="3337560"/>
            <a:ext cx="35661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適応度のばらつきが小さい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最低ライン：0人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• 最高ライン：約25人程度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→ ローリスク・ローリターン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c19097326_2_0"/>
          <p:cNvSpPr/>
          <p:nvPr/>
        </p:nvSpPr>
        <p:spPr>
          <a:xfrm>
            <a:off x="457200" y="27432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D3E57"/>
                </a:solidFill>
                <a:latin typeface="Arial"/>
                <a:ea typeface="Arial"/>
                <a:cs typeface="Arial"/>
                <a:sym typeface="Arial"/>
              </a:rPr>
              <a:t>ポリガミー（一夫多妻）の歴史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bc19097326_2_0"/>
          <p:cNvSpPr/>
          <p:nvPr/>
        </p:nvSpPr>
        <p:spPr>
          <a:xfrm>
            <a:off x="457200" y="868680"/>
            <a:ext cx="1371600" cy="54900"/>
          </a:xfrm>
          <a:prstGeom prst="rect">
            <a:avLst/>
          </a:prstGeom>
          <a:solidFill>
            <a:srgbClr val="C9A6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bc19097326_2_0"/>
          <p:cNvSpPr/>
          <p:nvPr/>
        </p:nvSpPr>
        <p:spPr>
          <a:xfrm>
            <a:off x="457200" y="1280160"/>
            <a:ext cx="8229600" cy="822900"/>
          </a:xfrm>
          <a:prstGeom prst="rect">
            <a:avLst/>
          </a:prstGeom>
          <a:solidFill>
            <a:srgbClr val="2D3E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bc19097326_2_0"/>
          <p:cNvSpPr/>
          <p:nvPr/>
        </p:nvSpPr>
        <p:spPr>
          <a:xfrm>
            <a:off x="640080" y="1371600"/>
            <a:ext cx="786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進化の歴史を通じて、ヒトの婚姻形態は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一夫多妻だった（極端ではないが）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bc19097326_2_0"/>
          <p:cNvSpPr/>
          <p:nvPr/>
        </p:nvSpPr>
        <p:spPr>
          <a:xfrm>
            <a:off x="457200" y="2286000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3E57"/>
                </a:solidFill>
                <a:latin typeface="Arial"/>
                <a:ea typeface="Arial"/>
                <a:cs typeface="Arial"/>
                <a:sym typeface="Arial"/>
              </a:rPr>
              <a:t>史上最多の子だくさん女性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bc19097326_2_0"/>
          <p:cNvSpPr/>
          <p:nvPr/>
        </p:nvSpPr>
        <p:spPr>
          <a:xfrm>
            <a:off x="457200" y="2743200"/>
            <a:ext cx="3931800" cy="109740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bc19097326_2_0"/>
          <p:cNvSpPr/>
          <p:nvPr/>
        </p:nvSpPr>
        <p:spPr>
          <a:xfrm>
            <a:off x="548640" y="2834640"/>
            <a:ext cx="3749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18世紀ロシアの農夫の妻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69人の子供を産んだ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（27回の出産、すべて多胎産）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bc19097326_2_0"/>
          <p:cNvSpPr/>
          <p:nvPr/>
        </p:nvSpPr>
        <p:spPr>
          <a:xfrm>
            <a:off x="4754880" y="2286000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3E57"/>
                </a:solidFill>
                <a:latin typeface="Arial"/>
                <a:ea typeface="Arial"/>
                <a:cs typeface="Arial"/>
                <a:sym typeface="Arial"/>
              </a:rPr>
              <a:t>史上最多の子だくさん男性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c19097326_2_0"/>
          <p:cNvSpPr/>
          <p:nvPr/>
        </p:nvSpPr>
        <p:spPr>
          <a:xfrm>
            <a:off x="4754880" y="2743200"/>
            <a:ext cx="3931800" cy="109740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bc19097326_2_0"/>
          <p:cNvSpPr/>
          <p:nvPr/>
        </p:nvSpPr>
        <p:spPr>
          <a:xfrm>
            <a:off x="4846320" y="2834640"/>
            <a:ext cx="3749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モロッコの君主ムーレイ・イスマイル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少なくとも1042人の子供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（多数の妻を持った）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bc19097326_2_0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9A6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bc19097326_2_0"/>
          <p:cNvSpPr/>
          <p:nvPr/>
        </p:nvSpPr>
        <p:spPr>
          <a:xfrm>
            <a:off x="640080" y="4114800"/>
            <a:ext cx="7863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男性の繁殖成功度のばらつきは女性より遥かに大きい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この非対称性が、男女の行動戦略の違いを生んだ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340"/>
                </a:solidFill>
                <a:latin typeface="Georgia"/>
                <a:ea typeface="Georgia"/>
                <a:cs typeface="Georgia"/>
                <a:sym typeface="Georgia"/>
              </a:rPr>
              <a:t>男性の繁殖戦略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2B3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繁殖ゲームにおける「勝者」になるため、男性はより競争的・攻撃的・暴力的になる傾向がある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57200" y="2103120"/>
            <a:ext cx="82296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57200" y="2103120"/>
            <a:ext cx="73152" cy="8686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685800" y="22402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E5C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B3E5C"/>
                </a:solidFill>
                <a:latin typeface="Georgia"/>
                <a:ea typeface="Georgia"/>
                <a:cs typeface="Georgia"/>
                <a:sym typeface="Georgia"/>
              </a:rPr>
              <a:t>競争的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2560320" y="228600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他の男性と配偶者を巡って競争。地位・資源の獲得を目指す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57200" y="3063240"/>
            <a:ext cx="82296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457200" y="3063240"/>
            <a:ext cx="73152" cy="8686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685800" y="32004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E5C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B3E5C"/>
                </a:solidFill>
                <a:latin typeface="Georgia"/>
                <a:ea typeface="Georgia"/>
                <a:cs typeface="Georgia"/>
                <a:sym typeface="Georgia"/>
              </a:rPr>
              <a:t>攻撃的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2560320" y="324612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ライバルを押しのけ、競争で勝つための攻撃性が進化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457200" y="4023360"/>
            <a:ext cx="73152" cy="8686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685800" y="4160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E5C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B3E5C"/>
                </a:solidFill>
                <a:latin typeface="Georgia"/>
                <a:ea typeface="Georgia"/>
                <a:cs typeface="Georgia"/>
                <a:sym typeface="Georgia"/>
              </a:rPr>
              <a:t>リスク選好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2560320" y="420624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競争に参加しなければゼロ、参加すれば大きな報酬の可能性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男性の犯罪率・事故率・危険行動が女性より高いのは、この繁殖戦略の結果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340"/>
                </a:solidFill>
                <a:latin typeface="Georgia"/>
                <a:ea typeface="Georgia"/>
                <a:cs typeface="Georgia"/>
                <a:sym typeface="Georgia"/>
              </a:rPr>
              <a:t>女性の繁殖戦略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一人ひとりの子供の重要性が高いため、女性はより社交的で慈しみ育む資質を持つ傾向がある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57200" y="2103120"/>
            <a:ext cx="82296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457200" y="2103120"/>
            <a:ext cx="73152" cy="868680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685800" y="22402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社交的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2560320" y="228600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子育てに必要な社会的ネットワークを構築・維持する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57200" y="3063240"/>
            <a:ext cx="82296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457200" y="3063240"/>
            <a:ext cx="73152" cy="868680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685800" y="32004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慈しむ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2560320" y="324612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数少ない子供を大切に育て、生存率を高める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457200" y="4023360"/>
            <a:ext cx="73152" cy="868680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685800" y="4160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慎重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2560320" y="420624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リスクを避け、確実な資源と安全を求める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女性が家庭や人間関係を大事にするのは、この繁殖戦略の結果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340"/>
                </a:solidFill>
                <a:latin typeface="Georgia"/>
                <a:ea typeface="Georgia"/>
                <a:cs typeface="Georgia"/>
                <a:sym typeface="Georgia"/>
              </a:rPr>
              <a:t>男女の配偶者選択の違い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57200" y="868680"/>
            <a:ext cx="18288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457200" y="1097280"/>
            <a:ext cx="3931920" cy="502920"/>
          </a:xfrm>
          <a:prstGeom prst="rect">
            <a:avLst/>
          </a:prstGeom>
          <a:solidFill>
            <a:srgbClr val="2B3E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男性が求めるもの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40080" y="1691640"/>
            <a:ext cx="35661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若さと美しさ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若さ = 高い繁殖価値（これから産める子供の数）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美しさ = 健康と繁殖能力の指標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→ 繁殖成功の確率を最大化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※ 文化を問わず、男性は自分より若い女性を好む傾向がある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4754880" y="1097280"/>
            <a:ext cx="3931920" cy="502920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女性が求めるもの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937760" y="1691640"/>
            <a:ext cx="35661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資源と地位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資源 = 子供を養う能力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地位 = 安定した資源獲得能力の指標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→ 子供の生存確率を最大化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※ 文化を問わず、女性は自分より年上・高収入の男性を好む傾向がある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340"/>
                </a:solidFill>
                <a:latin typeface="Georgia"/>
                <a:ea typeface="Georgia"/>
                <a:cs typeface="Georgia"/>
                <a:sym typeface="Georgia"/>
              </a:rPr>
              <a:t>性差は文化を超えて普遍的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57200" y="868680"/>
            <a:ext cx="18288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2B3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デヴィッド・バスの37の文化圏を対象とした大規模調査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640080" y="2194560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640080" y="21945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188720" y="219456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男性は文化を問わず、女性の若さと身体的魅力を重視する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1188720" y="292608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女性は文化を問わず、男性の経済的見通しと地位を重視する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640080" y="3657600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640080" y="3657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1188720" y="36576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男性は自分より年下の女性を配偶者として好む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640080" y="4389120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640080" y="43891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1188720" y="438912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女性は自分より年上の男性を配偶者として好む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これらの傾向が全文化で見られることは、生物学的起源を示唆している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340"/>
                </a:solidFill>
                <a:latin typeface="Georgia"/>
                <a:ea typeface="Georgia"/>
                <a:cs typeface="Georgia"/>
                <a:sym typeface="Georgia"/>
              </a:rPr>
              <a:t>文化も進化の産物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457200" y="1097280"/>
            <a:ext cx="73152" cy="13716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文化は人間独自の適応形態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731520" y="160020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文化もまた生物学的に進化してきたものであり、人間の本性を反映している。人間の文化は、手や膵臓が遺伝子によって形づくられるように、遺伝的進化の適応的産物である。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457200" y="2651760"/>
            <a:ext cx="39319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57200" y="2651760"/>
            <a:ext cx="3931920" cy="4572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SSSMの見方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640080" y="3200400"/>
            <a:ext cx="3566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文化が人間の行動を決定する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文化と生物学は対立するもの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文化を変えれば人間は変わる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4754880" y="2651760"/>
            <a:ext cx="39319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27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4754880" y="2651760"/>
            <a:ext cx="393192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進化心理学の見方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4937760" y="3200400"/>
            <a:ext cx="3566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人間の本性が文化の基盤となる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文化も生物学的進化の産物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文化の多様性も普遍的な人間本性の表れ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40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まとめ：進化心理学の視点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457200" y="868680"/>
            <a:ext cx="18288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1005840" y="11430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男女の性差は、「ジェンダーの社会化」だけでは説明できない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457200" y="1920240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457200" y="19202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1005840" y="187452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新生児や霊長類にも見られる性差は、生得的なものである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457200" y="2651760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457200" y="2651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1005840" y="26060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性差は異なる繁殖戦略から進化した適応である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1005840" y="33375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配偶者選好の違いは、繁殖成功を最大化する戦略の反映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457200" y="4114800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457200" y="41148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1005840" y="40690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文化を超えた普遍性は、生物学的起源を示唆している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注：進化心理学は「あるべき姿」ではなく「なぜそうなのか」を説明する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40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ディスカッション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457200" y="86868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solidFill>
            <a:srgbClr val="2B3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457200" y="1143000"/>
            <a:ext cx="73152" cy="10972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685800" y="128016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Q1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1463040" y="1325880"/>
            <a:ext cx="7040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新生児の性差の研究は、「ジェンダーは社会的に構築される」という考えにどのような影響を与えるでしょうか？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solidFill>
            <a:srgbClr val="2B3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457200" y="2423160"/>
            <a:ext cx="73152" cy="10972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685800" y="256032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Q2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1463040" y="2606040"/>
            <a:ext cx="7040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男女の配偶者選好の違いは、現代の恋愛・結婚にどのように反映されていると思いますか？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solidFill>
            <a:srgbClr val="2B3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457200" y="3703320"/>
            <a:ext cx="73152" cy="10972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3"/>
          <p:cNvSpPr/>
          <p:nvPr/>
        </p:nvSpPr>
        <p:spPr>
          <a:xfrm>
            <a:off x="685800" y="384048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Q3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1463040" y="3886200"/>
            <a:ext cx="7040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進化心理学の知見と、ジェンダー平等の実現は両立できると思いますか？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2026-01-28T17:35:56Z</dcterms:created>
  <dc:creator>進化心理学勉強会</dc:creator>
</cp:coreProperties>
</file>