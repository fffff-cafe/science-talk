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kjf275x2PPxGQMGhdy3wEZVg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第1章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サバンナ原則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926080"/>
            <a:ext cx="22860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— 私たちの脳は石器時代のままだ 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Beautiful People Have More Daughters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著者：アラン・S・ミラー ／ サトシ・カナザワ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本章のアジェンダ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005840"/>
            <a:ext cx="164592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188720" y="1463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サバンナ原則とは何か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88720" y="2148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進化的適応環境（EEA）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88720" y="2834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脳と環境のミスマッチ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8872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現代社会での具体例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88720" y="4206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サバンナ原則の意義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サバンナ原則とは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人間の脳は、約1万年前の更新世（アフリカのサバンナ）の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環境に適応して進化した。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現代社会は急速に変化したが、私たちの脳はその変化に追いついていない。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7200" y="29260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37160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私たちは石器時代の脳で21世紀を生きている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3840480"/>
            <a:ext cx="8229600" cy="73152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57200" y="3749040"/>
            <a:ext cx="182880" cy="18288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200万年前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0" y="4297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人類の誕生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114800" y="3749040"/>
            <a:ext cx="182880" cy="18288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5760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1万年前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57600" y="4297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農耕革命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772400" y="3749040"/>
            <a:ext cx="182880" cy="18288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315200" y="40233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315200" y="4297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情報社会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進化的適応環境（EEA）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EEA（Environment of Evolutionary Adaptedness）とは、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人間の心理的メカニズムが形成された環境のこと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2377440"/>
            <a:ext cx="1645920" cy="50292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57200" y="23774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時期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286000" y="23774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更新世（約200万年前〜1万年前）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2971800"/>
            <a:ext cx="1645920" cy="50292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57200" y="29718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場所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286000" y="297180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主にアフリカのサバンナ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生活様式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286000" y="3566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小集団での狩猟採集生活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4160520"/>
            <a:ext cx="1645920" cy="50292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57200" y="416052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286000" y="41605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50〜150人程度の集団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人類史の99%以上は狩猟採集時代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1005840"/>
            <a:ext cx="32004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017520" y="21031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以上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0" y="14630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人類の進化の大部分は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狩猟採集時代に起こった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進化のスケール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狩猟採集時代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743200" y="3566160"/>
            <a:ext cx="5029200" cy="2286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772400" y="35204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約200万年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40080" y="38862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農耕時代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743200" y="3931920"/>
            <a:ext cx="365760" cy="228600"/>
          </a:xfrm>
          <a:prstGeom prst="rect">
            <a:avLst/>
          </a:prstGeom>
          <a:solidFill>
            <a:srgbClr val="9BB8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772400" y="38862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約1万年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0080" y="42519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産業革命以降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743200" y="4297680"/>
            <a:ext cx="9144" cy="228600"/>
          </a:xfrm>
          <a:prstGeom prst="rect">
            <a:avLst/>
          </a:prstGeom>
          <a:solidFill>
            <a:srgbClr val="9BB8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772400" y="425196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約250年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脳と環境のミスマッチ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solidFill>
            <a:srgbClr val="9BB8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石器時代の脳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高カロリー食品を求める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見知った顔に親しみを感じる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危険に敏感に反応する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社会的地位を重視する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現代の環境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ジャンクフードが溢れる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937760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テレビで「知人」が増える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937760" y="3017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メディアが危機を誇張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937760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▸ SNSで地位競争が激化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進化が想定しなかった刺激に、石器時代の脳が反応してしまう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事例① テレビと有名人への反応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なぜ私たちは有名人のことを「友人」のように感じるのか？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石器時代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80" y="228600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繰り返し見る顔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実際に知っている人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（同じ部族のメンバー）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現代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937760" y="228600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テレビで繰り返し見る顔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脳は「知人」と誤認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（実際は会ったこともない）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114800" y="2743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脳は「繰り返し見る顔＝知人」という石器時代のルールを適用している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事例② 高カロリー食品への渇望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なぜ私たちは甘いもの・脂っこいものを好むのか？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石器時代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256032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食料は常に不足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高カロリー食品は稀少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見つけたら食べるのが生存戦略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砂糖・脂肪への嗜好は適応的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754880" y="2011680"/>
            <a:ext cx="1371600" cy="4572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754880" y="20116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754880" y="256032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高カロリー食品が溢れている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24時間入手可能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同じ嗜好が肥満を引き起こす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かつての適応が今や不適応に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結果：先進国での肥満の蔓延は、石器時代の脳と現代環境のミスマッチの産物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事例③ ポルノグラフィへの反応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なぜ男性はポルノに強く反応するのか？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石器時代の脳のルール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0080" y="228600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「目の前に裸の女性がいる」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「繁殖の機会である」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「性的興奮という反応」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572000" y="1920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現代の現実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572000" y="228600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画面上の画像は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繁殖の機会ではない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→ 脳は区別できない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434840" y="2011680"/>
            <a:ext cx="27432" cy="1463040"/>
          </a:xfrm>
          <a:prstGeom prst="rect">
            <a:avLst/>
          </a:prstGeom>
          <a:solidFill>
            <a:srgbClr val="9BB8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石器時代には「画像」は存在しなかった。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脳は視覚情報を「現実」として処理するよう進化した。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事例④ 恐怖反応のミスマッチ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なぜ蛇や蜘蛛を恐れ、車や銃を恐れないのか？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現代アメリカでの年間死亡者数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40080" y="2468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自動車事故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017520" y="2468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約40,000人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486400" y="2514600"/>
            <a:ext cx="109728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486400" y="24688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低い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銃による死亡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017520" y="29260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約40,000人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486400" y="2971800"/>
            <a:ext cx="109728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5486400" y="29260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中程度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40080" y="33832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蛇による死亡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017520" y="33832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約5人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486400" y="3429000"/>
            <a:ext cx="1097280" cy="32004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486400" y="33832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高い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40080" y="38404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蜘蛛による死亡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017520" y="38404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約7人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486400" y="3886200"/>
            <a:ext cx="1097280" cy="32004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486400" y="38404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高い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恐怖反応は石器時代の脅威（蛇・蜘蛛）に対して進化した。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車や銃は進化史上「新しすぎる」ため、本能的恐怖が発達していない。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事例⑤ メディアへの反応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なぜ人々はニュースを「自分ごと」として感じるのか？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石器時代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40080" y="228600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情報は直接的体験から得る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聞いた話は近くで起きたこと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危険な情報＝自分への脅威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572000" y="1920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現代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572000" y="228600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世界中のニュースが届く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遠い場所の出来事も「聞く」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脳は「近くの出来事」と誤認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434840" y="2011680"/>
            <a:ext cx="27432" cy="1280160"/>
          </a:xfrm>
          <a:prstGeom prst="rect">
            <a:avLst/>
          </a:prstGeom>
          <a:solidFill>
            <a:srgbClr val="9BB8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結果：世界は実際には安全になっているのに、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人々は「世界は危険になっている」と感じる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メディアが「悪いニュース」を優先するため、石器時代の脳は世界を危険だと判断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サバンナ原則の意義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57200" y="1005840"/>
            <a:ext cx="201168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457200" y="1371600"/>
            <a:ext cx="2011680" cy="100584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457200" y="137160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行動の理解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2651760" y="137160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一見「不合理」に見える行動も、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進化の文脈では「合理的」だった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7200" y="2560320"/>
            <a:ext cx="2011680" cy="100584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457200" y="25603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自己理解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2651760" y="256032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なぜ自分がそう感じるかを理解し、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より良い選択ができるようになる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57200" y="3749040"/>
            <a:ext cx="2011680" cy="100584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457200" y="374904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社会設計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2651760" y="374904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人間の本性を理解した上で、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より良い制度・環境を設計できる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サバンナ原則が意味しないこと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57200" y="1005840"/>
            <a:ext cx="292608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914400" y="13716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私たちは本能の奴隷である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212080" y="13716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意識的な選択は可能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914400" y="22402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古い行動は「正しい」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212080" y="22402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起源の説明は正当化ではない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914400" y="31089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変化は不可能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4754880" y="3108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212080" y="3108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環境を設計して行動を変えられる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91440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すべてが遺伝で決まる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75488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212080" y="39776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遺伝と環境の相互作用が重要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57200" y="4389124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640080" y="4379467"/>
            <a:ext cx="786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進化心理学は「説明」を提供するが、行動を「正当化」するものではない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現代への応用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457200" y="1005840"/>
            <a:ext cx="164592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457200" y="1371600"/>
            <a:ext cx="91440" cy="13716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健康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「食べたい」衝動を理解し、環境を整えてヘルシーな選択を促す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4754880" y="1371600"/>
            <a:ext cx="91440" cy="13716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テクノロジー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SNS依存やスマホ中毒の原因を理解し、適切な距離を保つ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457200" y="3017520"/>
            <a:ext cx="91440" cy="13716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640080" y="3108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職場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40080" y="34747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チーム規模や社会的関係の限界を理解し、効果的な組織設計を行う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4754880" y="3017520"/>
            <a:ext cx="91440" cy="13716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子育て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4937760" y="34747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子供の本能的な恐怖や欲求を理解し、適切な対応ができる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環境変化のスピード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457200" y="1463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遺伝的変化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2926080" y="1463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数万年〜数十万年かかる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4114800" y="2011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環境変化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2926080" y="2468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数十年〜数百年で劇的に変化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過去1万年の主な変化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40080" y="36576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農耕の発明 → 定住生活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754880" y="36576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文字の発明 → 情報の蓄積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40080" y="41148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産業革命 → 都市化・工業化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754880" y="41148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情報革命 → インターネット・SNS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脳は「違い」を見分けられない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57200" y="1005840"/>
            <a:ext cx="32004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私たちの脳は、石器時代に存在しなかった刺激に対して、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石器時代のルールで反応してしまう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刺激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200400" y="2194560"/>
            <a:ext cx="2743200" cy="4572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32004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脳の解釈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457200" y="26974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457200" y="2697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テレビの俳優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3200400" y="26974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3200400" y="2697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知り合い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5943600" y="26974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5943600" y="2697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全くの他人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457200" y="3154680"/>
            <a:ext cx="2743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457200" y="31546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ジャンクフード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3200400" y="3154680"/>
            <a:ext cx="2743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3200400" y="31546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貴重な栄養源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5943600" y="3154680"/>
            <a:ext cx="2743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5943600" y="31546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過剰なカロリー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457200" y="36118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457200" y="3611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ポルノ画像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200400" y="36118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200400" y="3611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繁殖の機会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5943600" y="36118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5943600" y="3611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ただの画像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57200" y="4069080"/>
            <a:ext cx="2743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457200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ニュース映像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3200400" y="4069080"/>
            <a:ext cx="2743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3200400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近くの危険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5943600" y="4069080"/>
            <a:ext cx="2743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5943600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遠い出来事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2000"/>
              <a:buFont typeface="Georgia"/>
              <a:buNone/>
            </a:pPr>
            <a:r>
              <a:rPr b="0" i="0" lang="en-US" sz="12000" u="none" cap="none" strike="noStrike">
                <a:solidFill>
                  <a:srgbClr val="CCA349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1097280" y="164592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私たちは石器時代の脳で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21世紀を生きている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7772400" y="2560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12000"/>
              <a:buFont typeface="Georgia"/>
              <a:buNone/>
            </a:pPr>
            <a:r>
              <a:rPr b="0" i="0" lang="en-US" sz="12000" u="none" cap="none" strike="noStrike">
                <a:solidFill>
                  <a:srgbClr val="CCA349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この認識こそが、サバンナ原則の核心であり、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進化心理学の出発点である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第1章のまとめ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097280" y="13716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サバンナ原則：脳は石器時代の環境に適応して進化した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1097280" y="20574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人類史の99%以上は狩猟採集時代であった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1097280" y="27432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現代環境は急速に変化したが、脳は追いついていない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1097280" y="34290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このミスマッチが多くの「不合理」な行動を説明する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1097280" y="41148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進化心理学は説明であり、正当化ではない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83A5E"/>
                </a:solidFill>
                <a:latin typeface="Arial"/>
                <a:ea typeface="Arial"/>
                <a:cs typeface="Arial"/>
                <a:sym typeface="Arial"/>
              </a:rPr>
              <a:t>ディスカッション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57200" y="1005840"/>
            <a:ext cx="201168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457200" y="1371600"/>
            <a:ext cx="731520" cy="9144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457200" y="137160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1280160" y="1371600"/>
            <a:ext cx="7406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1463040" y="1463040"/>
            <a:ext cx="7040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サバンナ原則を知って、自分の日常行動で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思い当たることはありますか？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457200" y="2560320"/>
            <a:ext cx="731520" cy="9144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457200" y="256032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1280160" y="2560320"/>
            <a:ext cx="7406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1463040" y="2651760"/>
            <a:ext cx="7040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現代のテクノロジー（SNS、スマホなど）と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石器時代の脳のミスマッチをどう感じますか？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457200" y="3749040"/>
            <a:ext cx="731520" cy="914400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457200" y="374904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1280160" y="3749040"/>
            <a:ext cx="7406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1463040" y="3840480"/>
            <a:ext cx="7040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このミスマッチに対して、個人や社会は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どのような対策ができると思いますか？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3A5E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第1章 完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3657600" y="2560320"/>
            <a:ext cx="1828800" cy="54864"/>
          </a:xfrm>
          <a:prstGeom prst="rect">
            <a:avLst/>
          </a:prstGeom>
          <a:solidFill>
            <a:srgbClr val="CCA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A349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A349"/>
                </a:solidFill>
                <a:latin typeface="Arial"/>
                <a:ea typeface="Arial"/>
                <a:cs typeface="Arial"/>
                <a:sym typeface="Arial"/>
              </a:rPr>
              <a:t>サバンナ原則 — 私たちの脳は石器時代のままだ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8D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BB8D7"/>
                </a:solidFill>
                <a:latin typeface="Arial"/>
                <a:ea typeface="Arial"/>
                <a:cs typeface="Arial"/>
                <a:sym typeface="Arial"/>
              </a:rPr>
              <a:t>次章予告：なぜ男と女はこんなに違うのか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ご清聴ありがとうございました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2026-01-28T11:56:28Z</dcterms:created>
  <dc:creator>Study Group</dc:creator>
</cp:coreProperties>
</file>