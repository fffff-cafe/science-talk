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8GlzdhdgoafXVHnA2JLRaX79I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d1d2b066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bd1d2b066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bd1d2b066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第</a:t>
            </a:r>
            <a:r>
              <a:rPr lang="en-US" sz="2400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r>
              <a:rPr b="0" i="0" lang="en-US" sz="2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なぜ美しい人には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娘が多いのか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F5F5F5"/>
                </a:solidFill>
                <a:latin typeface="Georgia"/>
                <a:ea typeface="Georgia"/>
                <a:cs typeface="Georgia"/>
                <a:sym typeface="Georgia"/>
              </a:rPr>
              <a:t>トリヴァース・ウィラード仮説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本章の問い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子供の性別は偶然で決まる？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それとも、親の状態によって変わる？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53" y="2103125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005840" y="210312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なぜ美しい親には娘が多く生まれるのか？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52" y="260605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05840" y="26060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なぜ裕福な親には息子が多く生まれるのか？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52" y="3108950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05840" y="310896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なぜ身長の高い親には息子が多いのか？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52" y="3611875"/>
            <a:ext cx="45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Q4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05840" y="361188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親の「状態」が子供の性別に影響するメカニズムは？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トリヴァース・ウィラード仮説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Robert Trivers &amp; Dan Willard (1973)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40080" y="141732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「親の状態が良い時は息子を、悪い時は娘を産む方が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遺伝子を残す上で有利である」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なぜそうなるのか？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57200" y="2514600"/>
            <a:ext cx="3931920" cy="19202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48640" y="26060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196F3"/>
                </a:solidFill>
                <a:latin typeface="Georgia"/>
                <a:ea typeface="Georgia"/>
                <a:cs typeface="Georgia"/>
                <a:sym typeface="Georgia"/>
              </a:rPr>
              <a:t>♂ 息子の繁殖成功度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94360" y="29718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高い分散（ばらつき）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成功すれば大量の子孫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失敗すれば子孫ゼロ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資源があれば大成功の可能性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754880" y="2514600"/>
            <a:ext cx="3931920" cy="192024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846320" y="26060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E91E63"/>
                </a:solidFill>
                <a:latin typeface="Georgia"/>
                <a:ea typeface="Georgia"/>
                <a:cs typeface="Georgia"/>
                <a:sym typeface="Georgia"/>
              </a:rPr>
              <a:t>♀ 娘の繁殖成功度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892040" y="29718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低い分散（安定）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ほぼ確実に子孫を残せる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上限はあるが安定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資源がなくても繁殖可能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仮説の予測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57200" y="1051560"/>
            <a:ext cx="393192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4864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親の状態が「良い」とき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94360" y="15544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息子を産む方が有利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息子は親から受け継いだ資源で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多くの女性を獲得し、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大量の孫を残せる可能性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754880" y="1051560"/>
            <a:ext cx="3931920" cy="20116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846320" y="11430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親の状態が「悪い」とき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892040" y="15544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 娘を産む方が有利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娘は資源が少なくても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ほぼ確実に繁殖できるため、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孫を残せる可能性が高い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「状態が良い」とは？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裕福である（経済的資源）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身長が高い（男性の場合、社会的成功の指標）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高い社会的地位を持っている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なぜ美しい人には娘が多いのか？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美しさは娘にとってより有利な特性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進化心理学の説明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25146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05840" y="2514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美しさは女性の繁殖成功度を大きく高める（男性の選好）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005840" y="30175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美しさは男性の繁殖成功度にはそれほど影響しない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48640" y="352044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48640" y="3520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005840" y="35204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美しい親は、その美しさを娘に渡した方が孫が増える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005840" y="40233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よって、美しい親の体は娘を産むように調整される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研究：美しいと評価された人は統計的に娘を持つ確率が高い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なぜ裕福な人には息子が多いのか？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富と地位は息子にとってより有利な特性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進化心理学の説明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48640" y="25146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005840" y="25146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富と地位は男性の繁殖成功度を大きく高める（女性の選好）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05840" y="30175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富と地位は女性の繁殖成功度にはそれほど影響しない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48640" y="352044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48640" y="3520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005840" y="35204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裕福な親は、その資源を息子に渡した方が孫が増える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005840" y="40233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よって、裕福な親の体は息子を産むように調整される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研究：億万長者やCEOには息子が多い傾向がある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なぜ背の高い親には息子が多いのか？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身長は男性の成功の指標として機能する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身長が高い男性は、収入が高く、社会的地位が高い傾向がある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アメリカ大統領のほとんどは平均より背が高い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トリヴァース・ウィラード仮説の適用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7200" y="2697480"/>
            <a:ext cx="822960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40080" y="2788920"/>
            <a:ext cx="7863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身長が高い親 = 「状態が良い」と判断される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身長の高さは遺伝する傾向がある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息子がその身長を受け継げば、繁殖成功度が高まる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よって、背の高い親は息子を産む傾向がある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どのようにして性比が調整されるのか？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9B59B6"/>
                </a:solidFill>
                <a:latin typeface="Georgia"/>
                <a:ea typeface="Georgia"/>
                <a:cs typeface="Georgia"/>
                <a:sym typeface="Georgia"/>
              </a:rPr>
              <a:t>現時点では完全には解明されていないが、いくつかの仮説がある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57200" y="1920240"/>
            <a:ext cx="228600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548640" y="196596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受胎時の選択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880360" y="1920240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特定の性別の精子が受精しやすい子宮環境の変化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2560320"/>
            <a:ext cx="228600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548640" y="26060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選択的流産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880360" y="2560320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「不利な」性別の胚は流産しやすくなる可能性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3200400"/>
            <a:ext cx="228600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548640" y="324612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ホルモンの影響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880360" y="3200400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親のテストステロンやエストロゲンレベルが性比に影響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57200" y="3840480"/>
            <a:ext cx="2286000" cy="502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48640" y="38862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栄養状態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880360" y="3840480"/>
            <a:ext cx="5806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母親の栄養状態が性比に影響するという研究もある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重要：これは意識的な選択ではなく、無意識の生理的プロセス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第</a:t>
            </a: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章のまとめ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280160" y="123444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トリヴァース・ウィラード仮説：親の状態が子の性比に影響する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280160" y="182880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美しい親は娘を、裕福な親は息子を産む傾向がある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731520" y="242316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280160" y="242316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息子の繁殖成功度は分散が大きく、資源に依存する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280160" y="301752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娘の繁殖成功度は安定しており、資源への依存が小さい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731520" y="3611880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731520" y="3611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280160" y="3611880"/>
            <a:ext cx="7132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この仮説は多くの研究で支持されている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C9A227"/>
                </a:solidFill>
                <a:latin typeface="Georgia"/>
                <a:ea typeface="Georgia"/>
                <a:cs typeface="Georgia"/>
                <a:sym typeface="Georgia"/>
              </a:rPr>
              <a:t>次章では、男性のリスクテイキングと犯罪について考える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d1d2b066c_1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bd1d2b066c_1_0"/>
          <p:cNvSpPr/>
          <p:nvPr/>
        </p:nvSpPr>
        <p:spPr>
          <a:xfrm>
            <a:off x="0" y="914400"/>
            <a:ext cx="9144000" cy="45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bd1d2b066c_1_0"/>
          <p:cNvSpPr/>
          <p:nvPr/>
        </p:nvSpPr>
        <p:spPr>
          <a:xfrm>
            <a:off x="457200" y="2286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 だめな父親は多いのに、だめな母親が少ないのはなぜか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bd1d2b066c_1_0"/>
          <p:cNvSpPr/>
          <p:nvPr/>
        </p:nvSpPr>
        <p:spPr>
          <a:xfrm>
            <a:off x="365760" y="1188720"/>
            <a:ext cx="4023300" cy="169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bd1d2b066c_1_0"/>
          <p:cNvSpPr/>
          <p:nvPr/>
        </p:nvSpPr>
        <p:spPr>
          <a:xfrm>
            <a:off x="365760" y="1188720"/>
            <a:ext cx="73200" cy="1691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bd1d2b066c_1_0"/>
          <p:cNvSpPr/>
          <p:nvPr/>
        </p:nvSpPr>
        <p:spPr>
          <a:xfrm>
            <a:off x="548640" y="128016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理由① 父性の不確実性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bd1d2b066c_1_0"/>
          <p:cNvSpPr/>
          <p:nvPr/>
        </p:nvSpPr>
        <p:spPr>
          <a:xfrm>
            <a:off x="548640" y="1645920"/>
            <a:ext cx="3657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ママのベイビーは、パパにとっては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メイビー（不確か）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• 母親は100%自分の子と確信できる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• 父親は自分の子かどうか不確実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• 寝取られ男確率：欧米で約4%前後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bd1d2b066c_1_0"/>
          <p:cNvSpPr/>
          <p:nvPr/>
        </p:nvSpPr>
        <p:spPr>
          <a:xfrm>
            <a:off x="4754880" y="1188720"/>
            <a:ext cx="4023300" cy="1691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bd1d2b066c_1_0"/>
          <p:cNvSpPr/>
          <p:nvPr/>
        </p:nvSpPr>
        <p:spPr>
          <a:xfrm>
            <a:off x="4754880" y="1188720"/>
            <a:ext cx="73200" cy="1691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bd1d2b066c_1_0"/>
          <p:cNvSpPr/>
          <p:nvPr/>
        </p:nvSpPr>
        <p:spPr>
          <a:xfrm>
            <a:off x="4937760" y="128016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理由② 子供一人あたりの価値の差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bd1d2b066c_1_0"/>
          <p:cNvSpPr/>
          <p:nvPr/>
        </p:nvSpPr>
        <p:spPr>
          <a:xfrm>
            <a:off x="4937760" y="1645920"/>
            <a:ext cx="3657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女性の生殖可能期間は男性より短い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• 女性：生涯の子供数に上限がある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• 男性：理論上もっと多くの子を持てる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• → </a:t>
            </a:r>
            <a:r>
              <a:rPr b="1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一人の子供の価値は母親にとってより大きい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bd1d2b066c_1_0"/>
          <p:cNvSpPr/>
          <p:nvPr/>
        </p:nvSpPr>
        <p:spPr>
          <a:xfrm>
            <a:off x="365760" y="3063240"/>
            <a:ext cx="40233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d1d2b066c_1_0"/>
          <p:cNvSpPr/>
          <p:nvPr/>
        </p:nvSpPr>
        <p:spPr>
          <a:xfrm>
            <a:off x="365760" y="3063240"/>
            <a:ext cx="73200" cy="1371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bd1d2b066c_1_0"/>
          <p:cNvSpPr/>
          <p:nvPr/>
        </p:nvSpPr>
        <p:spPr>
          <a:xfrm>
            <a:off x="548640" y="3154680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理由③ 適応度の上限の違い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bd1d2b066c_1_0"/>
          <p:cNvSpPr/>
          <p:nvPr/>
        </p:nvSpPr>
        <p:spPr>
          <a:xfrm>
            <a:off x="548640" y="347472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• 男性：繁殖ゲームで「大敗者」にも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   「大勝者」にもなれる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• 女性：子供数に上限があり安定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E5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3E5C"/>
                </a:solidFill>
                <a:latin typeface="Arial"/>
                <a:ea typeface="Arial"/>
                <a:cs typeface="Arial"/>
                <a:sym typeface="Arial"/>
              </a:rPr>
              <a:t>• → 父親は他の女性への投資を選択しうる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bd1d2b066c_1_0"/>
          <p:cNvSpPr/>
          <p:nvPr/>
        </p:nvSpPr>
        <p:spPr>
          <a:xfrm>
            <a:off x="4754880" y="3063240"/>
            <a:ext cx="4023300" cy="1371600"/>
          </a:xfrm>
          <a:prstGeom prst="rect">
            <a:avLst/>
          </a:prstGeom>
          <a:solidFill>
            <a:srgbClr val="2B3E5C"/>
          </a:solidFill>
          <a:ln>
            <a:noFill/>
          </a:ln>
          <a:effectLst>
            <a:outerShdw blurRad="50800" rotWithShape="0" algn="bl" dir="8100000" dist="25400">
              <a:srgbClr val="000000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d1d2b066c_1_0"/>
          <p:cNvSpPr/>
          <p:nvPr/>
        </p:nvSpPr>
        <p:spPr>
          <a:xfrm>
            <a:off x="4937760" y="3154680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bd1d2b066c_1_0"/>
          <p:cNvSpPr/>
          <p:nvPr/>
        </p:nvSpPr>
        <p:spPr>
          <a:xfrm>
            <a:off x="4937760" y="347472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母親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：自分の子と確実にわかるため、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子供を捨てる選択肢がない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父親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：不確実性と他の繁殖機会から、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投資を控える可能性がある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bd1d2b066c_1_0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2B3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bd1d2b066c_1_0"/>
          <p:cNvSpPr/>
          <p:nvPr/>
        </p:nvSpPr>
        <p:spPr>
          <a:xfrm>
            <a:off x="365760" y="489204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第5章 親と子、厄介だがかけがえのない絆──家族の進化心理学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bd1d2b066c_1_0"/>
          <p:cNvSpPr/>
          <p:nvPr/>
        </p:nvSpPr>
        <p:spPr>
          <a:xfrm>
            <a:off x="5943600" y="489204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『美人の正体』 アラン・ミラー＆金澤 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2026-01-26T23:20:51Z</dcterms:created>
  <dc:creator>Claude</dc:creator>
</cp:coreProperties>
</file>