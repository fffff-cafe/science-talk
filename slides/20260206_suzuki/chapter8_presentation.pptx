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1371600"/>
            <a:ext cx="8229600" cy="548640"/>
          </a:xfrm>
          <a:prstGeom prst="rect">
            <a:avLst/>
          </a:prstGeom>
          <a:noFill/>
          <a:ln/>
        </p:spPr>
        <p:txBody>
          <a:bodyPr wrap="square" rtlCol="0" anchor="ctr"/>
          <a:lstStyle/>
          <a:p>
            <a:pPr algn="ctr" indent="0" marL="0">
              <a:buNone/>
            </a:pPr>
            <a:r>
              <a:rPr lang="en-US" sz="2400" dirty="0">
                <a:solidFill>
                  <a:srgbClr val="C9A227"/>
                </a:solidFill>
                <a:latin typeface="Georgia" pitchFamily="34" charset="0"/>
                <a:ea typeface="Georgia" pitchFamily="34" charset="-122"/>
                <a:cs typeface="Georgia" pitchFamily="34" charset="-120"/>
              </a:rPr>
              <a:t>第8章</a:t>
            </a:r>
            <a:endParaRPr lang="en-US" sz="2400" dirty="0"/>
          </a:p>
        </p:txBody>
      </p:sp>
      <p:sp>
        <p:nvSpPr>
          <p:cNvPr id="3" name="Text 1"/>
          <p:cNvSpPr/>
          <p:nvPr/>
        </p:nvSpPr>
        <p:spPr>
          <a:xfrm>
            <a:off x="457200" y="1920240"/>
            <a:ext cx="8229600" cy="1097280"/>
          </a:xfrm>
          <a:prstGeom prst="rect">
            <a:avLst/>
          </a:prstGeom>
          <a:noFill/>
          <a:ln/>
        </p:spPr>
        <p:txBody>
          <a:bodyPr wrap="square" rtlCol="0" anchor="ctr"/>
          <a:lstStyle/>
          <a:p>
            <a:pPr algn="ctr" indent="0" marL="0">
              <a:buNone/>
            </a:pPr>
            <a:r>
              <a:rPr lang="en-US" sz="3400" b="1" dirty="0">
                <a:solidFill>
                  <a:srgbClr val="FFFFFF"/>
                </a:solidFill>
                <a:latin typeface="Georgia" pitchFamily="34" charset="0"/>
                <a:ea typeface="Georgia" pitchFamily="34" charset="-122"/>
                <a:cs typeface="Georgia" pitchFamily="34" charset="-120"/>
              </a:rPr>
              <a:t>善きもの悪しきもの、</a:t>
            </a:r>
            <a:endParaRPr lang="en-US" sz="3400" dirty="0"/>
          </a:p>
          <a:p>
            <a:pPr algn="ctr" indent="0" marL="0">
              <a:buNone/>
            </a:pPr>
            <a:r>
              <a:rPr lang="en-US" sz="3400" b="1" dirty="0">
                <a:solidFill>
                  <a:srgbClr val="FFFFFF"/>
                </a:solidFill>
                <a:latin typeface="Georgia" pitchFamily="34" charset="0"/>
                <a:ea typeface="Georgia" pitchFamily="34" charset="-122"/>
                <a:cs typeface="Georgia" pitchFamily="34" charset="-120"/>
              </a:rPr>
              <a:t>醜悪なるもの</a:t>
            </a:r>
            <a:endParaRPr lang="en-US" sz="3400" dirty="0"/>
          </a:p>
        </p:txBody>
      </p:sp>
      <p:sp>
        <p:nvSpPr>
          <p:cNvPr id="4" name="Shape 2"/>
          <p:cNvSpPr/>
          <p:nvPr/>
        </p:nvSpPr>
        <p:spPr>
          <a:xfrm>
            <a:off x="3200400" y="3108960"/>
            <a:ext cx="2743200" cy="36576"/>
          </a:xfrm>
          <a:prstGeom prst="rect">
            <a:avLst/>
          </a:prstGeom>
          <a:solidFill>
            <a:srgbClr val="C9A227"/>
          </a:solidFill>
          <a:ln/>
        </p:spPr>
      </p:sp>
      <p:sp>
        <p:nvSpPr>
          <p:cNvPr id="5" name="Text 3"/>
          <p:cNvSpPr/>
          <p:nvPr/>
        </p:nvSpPr>
        <p:spPr>
          <a:xfrm>
            <a:off x="457200" y="3291840"/>
            <a:ext cx="8229600" cy="548640"/>
          </a:xfrm>
          <a:prstGeom prst="rect">
            <a:avLst/>
          </a:prstGeom>
          <a:noFill/>
          <a:ln/>
        </p:spPr>
        <p:txBody>
          <a:bodyPr wrap="square" rtlCol="0" anchor="ctr"/>
          <a:lstStyle/>
          <a:p>
            <a:pPr algn="ctr" indent="0" marL="0">
              <a:buNone/>
            </a:pPr>
            <a:r>
              <a:rPr lang="en-US" sz="1800" i="1" dirty="0">
                <a:solidFill>
                  <a:srgbClr val="F2F2F2"/>
                </a:solidFill>
                <a:latin typeface="Georgia" pitchFamily="34" charset="0"/>
                <a:ea typeface="Georgia" pitchFamily="34" charset="-122"/>
                <a:cs typeface="Georgia" pitchFamily="34" charset="-120"/>
              </a:rPr>
              <a:t>宗教と紛争について</a:t>
            </a:r>
            <a:endParaRPr lang="en-US" sz="1800" dirty="0"/>
          </a:p>
        </p:txBody>
      </p:sp>
      <p:sp>
        <p:nvSpPr>
          <p:cNvPr id="6" name="Text 4"/>
          <p:cNvSpPr/>
          <p:nvPr/>
        </p:nvSpPr>
        <p:spPr>
          <a:xfrm>
            <a:off x="457200" y="4663440"/>
            <a:ext cx="8229600" cy="365760"/>
          </a:xfrm>
          <a:prstGeom prst="rect">
            <a:avLst/>
          </a:prstGeom>
          <a:noFill/>
          <a:ln/>
        </p:spPr>
        <p:txBody>
          <a:bodyPr wrap="square" rtlCol="0" anchor="ctr"/>
          <a:lstStyle/>
          <a:p>
            <a:pPr algn="ctr" indent="0" marL="0">
              <a:buNone/>
            </a:pPr>
            <a:r>
              <a:rPr lang="en-US" sz="1000" dirty="0">
                <a:solidFill>
                  <a:srgbClr val="C9A227"/>
                </a:solidFill>
                <a:latin typeface="Calibri" pitchFamily="34" charset="0"/>
                <a:ea typeface="Calibri" pitchFamily="34" charset="-122"/>
                <a:cs typeface="Calibri" pitchFamily="34" charset="-120"/>
              </a:rPr>
              <a:t>出典：アラン・S・ミラー、サトシ・カナザワ『進化心理学から考えるホモサピエンス』</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本章で扱う問い</a:t>
            </a:r>
            <a:endParaRPr lang="en-US" sz="2800" dirty="0"/>
          </a:p>
        </p:txBody>
      </p:sp>
      <p:sp>
        <p:nvSpPr>
          <p:cNvPr id="3" name="Shape 1"/>
          <p:cNvSpPr/>
          <p:nvPr/>
        </p:nvSpPr>
        <p:spPr>
          <a:xfrm>
            <a:off x="457200" y="868680"/>
            <a:ext cx="1371600" cy="45720"/>
          </a:xfrm>
          <a:prstGeom prst="rect">
            <a:avLst/>
          </a:prstGeom>
          <a:solidFill>
            <a:srgbClr val="C9A227"/>
          </a:solidFill>
          <a:ln/>
        </p:spPr>
      </p:sp>
      <p:sp>
        <p:nvSpPr>
          <p:cNvPr id="4" name="Shape 2"/>
          <p:cNvSpPr/>
          <p:nvPr/>
        </p:nvSpPr>
        <p:spPr>
          <a:xfrm>
            <a:off x="457200" y="1097280"/>
            <a:ext cx="8229600" cy="731520"/>
          </a:xfrm>
          <a:prstGeom prst="rect">
            <a:avLst/>
          </a:prstGeom>
          <a:solidFill>
            <a:srgbClr val="1E2761"/>
          </a:solidFill>
          <a:ln/>
        </p:spPr>
      </p:sp>
      <p:sp>
        <p:nvSpPr>
          <p:cNvPr id="5" name="Text 3"/>
          <p:cNvSpPr/>
          <p:nvPr/>
        </p:nvSpPr>
        <p:spPr>
          <a:xfrm>
            <a:off x="640080" y="1188720"/>
            <a:ext cx="7863840" cy="54864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進化心理学の視点から「宗教」と「集団間紛争」を考える</a:t>
            </a:r>
            <a:endParaRPr lang="en-US" sz="1600" dirty="0"/>
          </a:p>
        </p:txBody>
      </p:sp>
      <p:sp>
        <p:nvSpPr>
          <p:cNvPr id="6" name="Shape 4"/>
          <p:cNvSpPr/>
          <p:nvPr/>
        </p:nvSpPr>
        <p:spPr>
          <a:xfrm>
            <a:off x="548640" y="2011680"/>
            <a:ext cx="457200" cy="457200"/>
          </a:xfrm>
          <a:prstGeom prst="ellipse">
            <a:avLst/>
          </a:prstGeom>
          <a:solidFill>
            <a:srgbClr val="C9A227"/>
          </a:solidFill>
          <a:ln/>
        </p:spPr>
      </p:sp>
      <p:sp>
        <p:nvSpPr>
          <p:cNvPr id="7" name="Text 5"/>
          <p:cNvSpPr/>
          <p:nvPr/>
        </p:nvSpPr>
        <p:spPr>
          <a:xfrm>
            <a:off x="548640" y="2011680"/>
            <a:ext cx="45720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p:nvPr/>
        </p:nvSpPr>
        <p:spPr>
          <a:xfrm>
            <a:off x="1188720" y="2057400"/>
            <a:ext cx="7498080" cy="365760"/>
          </a:xfrm>
          <a:prstGeom prst="rect">
            <a:avLst/>
          </a:prstGeom>
          <a:noFill/>
          <a:ln/>
        </p:spPr>
        <p:txBody>
          <a:bodyPr wrap="square" rtlCol="0" anchor="ctr"/>
          <a:lstStyle/>
          <a:p>
            <a:pPr indent="0" marL="0">
              <a:buNone/>
            </a:pPr>
            <a:r>
              <a:rPr lang="en-US" sz="1600" dirty="0">
                <a:solidFill>
                  <a:srgbClr val="333333"/>
                </a:solidFill>
                <a:latin typeface="Calibri" pitchFamily="34" charset="0"/>
                <a:ea typeface="Calibri" pitchFamily="34" charset="-122"/>
                <a:cs typeface="Calibri" pitchFamily="34" charset="-120"/>
              </a:rPr>
              <a:t>宗教はどこから生まれたか？</a:t>
            </a:r>
            <a:endParaRPr lang="en-US" sz="1600" dirty="0"/>
          </a:p>
        </p:txBody>
      </p:sp>
      <p:sp>
        <p:nvSpPr>
          <p:cNvPr id="9" name="Shape 7"/>
          <p:cNvSpPr/>
          <p:nvPr/>
        </p:nvSpPr>
        <p:spPr>
          <a:xfrm>
            <a:off x="548640" y="2606040"/>
            <a:ext cx="457200" cy="457200"/>
          </a:xfrm>
          <a:prstGeom prst="ellipse">
            <a:avLst/>
          </a:prstGeom>
          <a:solidFill>
            <a:srgbClr val="C9A227"/>
          </a:solidFill>
          <a:ln/>
        </p:spPr>
      </p:sp>
      <p:sp>
        <p:nvSpPr>
          <p:cNvPr id="10" name="Text 8"/>
          <p:cNvSpPr/>
          <p:nvPr/>
        </p:nvSpPr>
        <p:spPr>
          <a:xfrm>
            <a:off x="548640" y="2606040"/>
            <a:ext cx="45720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1" name="Text 9"/>
          <p:cNvSpPr/>
          <p:nvPr/>
        </p:nvSpPr>
        <p:spPr>
          <a:xfrm>
            <a:off x="1188720" y="2651760"/>
            <a:ext cx="7498080" cy="365760"/>
          </a:xfrm>
          <a:prstGeom prst="rect">
            <a:avLst/>
          </a:prstGeom>
          <a:noFill/>
          <a:ln/>
        </p:spPr>
        <p:txBody>
          <a:bodyPr wrap="square" rtlCol="0" anchor="ctr"/>
          <a:lstStyle/>
          <a:p>
            <a:pPr indent="0" marL="0">
              <a:buNone/>
            </a:pPr>
            <a:r>
              <a:rPr lang="en-US" sz="1600" dirty="0">
                <a:solidFill>
                  <a:srgbClr val="333333"/>
                </a:solidFill>
                <a:latin typeface="Calibri" pitchFamily="34" charset="0"/>
                <a:ea typeface="Calibri" pitchFamily="34" charset="-122"/>
                <a:cs typeface="Calibri" pitchFamily="34" charset="-120"/>
              </a:rPr>
              <a:t>なぜ女性は男性よりも信心深いのか？</a:t>
            </a:r>
            <a:endParaRPr lang="en-US" sz="1600" dirty="0"/>
          </a:p>
        </p:txBody>
      </p:sp>
      <p:sp>
        <p:nvSpPr>
          <p:cNvPr id="12" name="Shape 10"/>
          <p:cNvSpPr/>
          <p:nvPr/>
        </p:nvSpPr>
        <p:spPr>
          <a:xfrm>
            <a:off x="548640" y="3200400"/>
            <a:ext cx="457200" cy="457200"/>
          </a:xfrm>
          <a:prstGeom prst="ellipse">
            <a:avLst/>
          </a:prstGeom>
          <a:solidFill>
            <a:srgbClr val="C9A227"/>
          </a:solidFill>
          <a:ln/>
        </p:spPr>
      </p:sp>
      <p:sp>
        <p:nvSpPr>
          <p:cNvPr id="13" name="Text 11"/>
          <p:cNvSpPr/>
          <p:nvPr/>
        </p:nvSpPr>
        <p:spPr>
          <a:xfrm>
            <a:off x="548640" y="3200400"/>
            <a:ext cx="45720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4" name="Text 12"/>
          <p:cNvSpPr/>
          <p:nvPr/>
        </p:nvSpPr>
        <p:spPr>
          <a:xfrm>
            <a:off x="1188720" y="3246120"/>
            <a:ext cx="7498080" cy="365760"/>
          </a:xfrm>
          <a:prstGeom prst="rect">
            <a:avLst/>
          </a:prstGeom>
          <a:noFill/>
          <a:ln/>
        </p:spPr>
        <p:txBody>
          <a:bodyPr wrap="square" rtlCol="0" anchor="ctr"/>
          <a:lstStyle/>
          <a:p>
            <a:pPr indent="0" marL="0">
              <a:buNone/>
            </a:pPr>
            <a:r>
              <a:rPr lang="en-US" sz="1600" dirty="0">
                <a:solidFill>
                  <a:srgbClr val="333333"/>
                </a:solidFill>
                <a:latin typeface="Calibri" pitchFamily="34" charset="0"/>
                <a:ea typeface="Calibri" pitchFamily="34" charset="-122"/>
                <a:cs typeface="Calibri" pitchFamily="34" charset="-120"/>
              </a:rPr>
              <a:t>なぜ自爆テロ犯の多くはイスラム教徒なのか？</a:t>
            </a:r>
            <a:endParaRPr lang="en-US" sz="1600" dirty="0"/>
          </a:p>
        </p:txBody>
      </p:sp>
      <p:sp>
        <p:nvSpPr>
          <p:cNvPr id="15" name="Shape 13"/>
          <p:cNvSpPr/>
          <p:nvPr/>
        </p:nvSpPr>
        <p:spPr>
          <a:xfrm>
            <a:off x="548640" y="3794760"/>
            <a:ext cx="457200" cy="457200"/>
          </a:xfrm>
          <a:prstGeom prst="ellipse">
            <a:avLst/>
          </a:prstGeom>
          <a:solidFill>
            <a:srgbClr val="C9A227"/>
          </a:solidFill>
          <a:ln/>
        </p:spPr>
      </p:sp>
      <p:sp>
        <p:nvSpPr>
          <p:cNvPr id="16" name="Text 14"/>
          <p:cNvSpPr/>
          <p:nvPr/>
        </p:nvSpPr>
        <p:spPr>
          <a:xfrm>
            <a:off x="548640" y="3794760"/>
            <a:ext cx="45720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Q4</a:t>
            </a:r>
            <a:endParaRPr lang="en-US" sz="1100" dirty="0"/>
          </a:p>
        </p:txBody>
      </p:sp>
      <p:sp>
        <p:nvSpPr>
          <p:cNvPr id="17" name="Text 15"/>
          <p:cNvSpPr/>
          <p:nvPr/>
        </p:nvSpPr>
        <p:spPr>
          <a:xfrm>
            <a:off x="1188720" y="3840480"/>
            <a:ext cx="7498080" cy="365760"/>
          </a:xfrm>
          <a:prstGeom prst="rect">
            <a:avLst/>
          </a:prstGeom>
          <a:noFill/>
          <a:ln/>
        </p:spPr>
        <p:txBody>
          <a:bodyPr wrap="square" rtlCol="0" anchor="ctr"/>
          <a:lstStyle/>
          <a:p>
            <a:pPr indent="0" marL="0">
              <a:buNone/>
            </a:pPr>
            <a:r>
              <a:rPr lang="en-US" sz="1600" dirty="0">
                <a:solidFill>
                  <a:srgbClr val="333333"/>
                </a:solidFill>
                <a:latin typeface="Calibri" pitchFamily="34" charset="0"/>
                <a:ea typeface="Calibri" pitchFamily="34" charset="-122"/>
                <a:cs typeface="Calibri" pitchFamily="34" charset="-120"/>
              </a:rPr>
              <a:t>なぜ世界中で民族紛争が絶えないのか？</a:t>
            </a:r>
            <a:endParaRPr lang="en-US" sz="1600" dirty="0"/>
          </a:p>
        </p:txBody>
      </p:sp>
      <p:sp>
        <p:nvSpPr>
          <p:cNvPr id="18" name="Shape 16"/>
          <p:cNvSpPr/>
          <p:nvPr/>
        </p:nvSpPr>
        <p:spPr>
          <a:xfrm>
            <a:off x="548640" y="4389120"/>
            <a:ext cx="457200" cy="457200"/>
          </a:xfrm>
          <a:prstGeom prst="ellipse">
            <a:avLst/>
          </a:prstGeom>
          <a:solidFill>
            <a:srgbClr val="C9A227"/>
          </a:solidFill>
          <a:ln/>
        </p:spPr>
      </p:sp>
      <p:sp>
        <p:nvSpPr>
          <p:cNvPr id="19" name="Text 17"/>
          <p:cNvSpPr/>
          <p:nvPr/>
        </p:nvSpPr>
        <p:spPr>
          <a:xfrm>
            <a:off x="548640" y="4389120"/>
            <a:ext cx="45720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Q5</a:t>
            </a:r>
            <a:endParaRPr lang="en-US" sz="1100" dirty="0"/>
          </a:p>
        </p:txBody>
      </p:sp>
      <p:sp>
        <p:nvSpPr>
          <p:cNvPr id="20" name="Text 18"/>
          <p:cNvSpPr/>
          <p:nvPr/>
        </p:nvSpPr>
        <p:spPr>
          <a:xfrm>
            <a:off x="1188720" y="4434840"/>
            <a:ext cx="7498080" cy="365760"/>
          </a:xfrm>
          <a:prstGeom prst="rect">
            <a:avLst/>
          </a:prstGeom>
          <a:noFill/>
          <a:ln/>
        </p:spPr>
        <p:txBody>
          <a:bodyPr wrap="square" rtlCol="0" anchor="ctr"/>
          <a:lstStyle/>
          <a:p>
            <a:pPr indent="0" marL="0">
              <a:buNone/>
            </a:pPr>
            <a:r>
              <a:rPr lang="en-US" sz="1600" dirty="0">
                <a:solidFill>
                  <a:srgbClr val="333333"/>
                </a:solidFill>
                <a:latin typeface="Calibri" pitchFamily="34" charset="0"/>
                <a:ea typeface="Calibri" pitchFamily="34" charset="-122"/>
                <a:cs typeface="Calibri" pitchFamily="34" charset="-120"/>
              </a:rPr>
              <a:t>なぜ独身女性は海外旅行好きで、独身男性は外国嫌いか？</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Q1: 宗教はどこから生まれたか？</a:t>
            </a:r>
            <a:endParaRPr lang="en-US" sz="2800" dirty="0"/>
          </a:p>
        </p:txBody>
      </p:sp>
      <p:sp>
        <p:nvSpPr>
          <p:cNvPr id="3" name="Shape 1"/>
          <p:cNvSpPr/>
          <p:nvPr/>
        </p:nvSpPr>
        <p:spPr>
          <a:xfrm>
            <a:off x="457200" y="868680"/>
            <a:ext cx="1371600" cy="45720"/>
          </a:xfrm>
          <a:prstGeom prst="rect">
            <a:avLst/>
          </a:prstGeom>
          <a:solidFill>
            <a:srgbClr val="C9A227"/>
          </a:solidFill>
          <a:ln/>
        </p:spPr>
      </p:sp>
      <p:sp>
        <p:nvSpPr>
          <p:cNvPr id="4" name="Text 2"/>
          <p:cNvSpPr/>
          <p:nvPr/>
        </p:nvSpPr>
        <p:spPr>
          <a:xfrm>
            <a:off x="457200" y="1051560"/>
            <a:ext cx="8229600" cy="457200"/>
          </a:xfrm>
          <a:prstGeom prst="rect">
            <a:avLst/>
          </a:prstGeom>
          <a:noFill/>
          <a:ln/>
        </p:spPr>
        <p:txBody>
          <a:bodyPr wrap="square" rtlCol="0" anchor="ctr"/>
          <a:lstStyle/>
          <a:p>
            <a:pPr indent="0" marL="0">
              <a:buNone/>
            </a:pPr>
            <a:r>
              <a:rPr lang="en-US" sz="1400" i="1" dirty="0">
                <a:solidFill>
                  <a:srgbClr val="333333"/>
                </a:solidFill>
                <a:latin typeface="Calibri" pitchFamily="34" charset="0"/>
                <a:ea typeface="Calibri" pitchFamily="34" charset="-122"/>
                <a:cs typeface="Calibri" pitchFamily="34" charset="-120"/>
              </a:rPr>
              <a:t>私たちの祖先は、偶発的な出来事と意図的な事件を区別する必要があった</a:t>
            </a:r>
            <a:endParaRPr lang="en-US" sz="1400" dirty="0"/>
          </a:p>
        </p:txBody>
      </p:sp>
      <p:sp>
        <p:nvSpPr>
          <p:cNvPr id="5" name="Shape 3"/>
          <p:cNvSpPr/>
          <p:nvPr/>
        </p:nvSpPr>
        <p:spPr>
          <a:xfrm>
            <a:off x="457200" y="1645920"/>
            <a:ext cx="3931920" cy="2011680"/>
          </a:xfrm>
          <a:prstGeom prst="rect">
            <a:avLst/>
          </a:prstGeom>
          <a:solidFill>
            <a:srgbClr val="FFFFFF"/>
          </a:solidFill>
          <a:ln w="25400">
            <a:solidFill>
              <a:srgbClr val="1E2761"/>
            </a:solidFill>
            <a:prstDash val="solid"/>
          </a:ln>
        </p:spPr>
      </p:sp>
      <p:sp>
        <p:nvSpPr>
          <p:cNvPr id="6" name="Shape 4"/>
          <p:cNvSpPr/>
          <p:nvPr/>
        </p:nvSpPr>
        <p:spPr>
          <a:xfrm>
            <a:off x="457200" y="1645920"/>
            <a:ext cx="3931920" cy="457200"/>
          </a:xfrm>
          <a:prstGeom prst="rect">
            <a:avLst/>
          </a:prstGeom>
          <a:solidFill>
            <a:srgbClr val="1E2761"/>
          </a:solidFill>
          <a:ln/>
        </p:spPr>
      </p:sp>
      <p:sp>
        <p:nvSpPr>
          <p:cNvPr id="7" name="Text 5"/>
          <p:cNvSpPr/>
          <p:nvPr/>
        </p:nvSpPr>
        <p:spPr>
          <a:xfrm>
            <a:off x="457200" y="1645920"/>
            <a:ext cx="39319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タイプ1の誤り</a:t>
            </a:r>
            <a:endParaRPr lang="en-US" sz="1400" dirty="0"/>
          </a:p>
        </p:txBody>
      </p:sp>
      <p:sp>
        <p:nvSpPr>
          <p:cNvPr id="8" name="Text 6"/>
          <p:cNvSpPr/>
          <p:nvPr/>
        </p:nvSpPr>
        <p:spPr>
          <a:xfrm>
            <a:off x="640080" y="2194560"/>
            <a:ext cx="3566160" cy="1371600"/>
          </a:xfrm>
          <a:prstGeom prst="rect">
            <a:avLst/>
          </a:prstGeom>
          <a:noFill/>
          <a:ln/>
        </p:spPr>
        <p:txBody>
          <a:bodyPr wrap="square"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偶発的な出来事を意図的だと誤認</a:t>
            </a:r>
            <a:endParaRPr lang="en-US" sz="1200" dirty="0"/>
          </a:p>
          <a:p>
            <a:pPr indent="0" marL="0">
              <a:buNone/>
            </a:pPr>
            <a:r>
              <a:rPr lang="en-US" sz="800" dirty="0">
                <a:solidFill>
                  <a:srgbClr val="333333"/>
                </a:solidFill>
                <a:latin typeface="Calibri" pitchFamily="34" charset="0"/>
                <a:ea typeface="Calibri" pitchFamily="34" charset="-122"/>
                <a:cs typeface="Calibri" pitchFamily="34" charset="-120"/>
              </a:rPr>
              <a:t> </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例：風で木が揺れただけなのに</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「敵が隠れている」と判断</a:t>
            </a:r>
            <a:endParaRPr lang="en-US" sz="1200" dirty="0"/>
          </a:p>
          <a:p>
            <a:pPr indent="0" marL="0">
              <a:buNone/>
            </a:pPr>
            <a:r>
              <a:rPr lang="en-US" sz="800" dirty="0">
                <a:solidFill>
                  <a:srgbClr val="333333"/>
                </a:solidFill>
                <a:latin typeface="Calibri" pitchFamily="34" charset="0"/>
                <a:ea typeface="Calibri" pitchFamily="34" charset="-122"/>
                <a:cs typeface="Calibri" pitchFamily="34" charset="-120"/>
              </a:rPr>
              <a:t> </a:t>
            </a:r>
            <a:endParaRPr lang="en-US" sz="1200" dirty="0"/>
          </a:p>
          <a:p>
            <a:pPr indent="0" marL="0">
              <a:buNone/>
            </a:pPr>
            <a:r>
              <a:rPr lang="en-US" sz="1200" dirty="0">
                <a:solidFill>
                  <a:srgbClr val="1E2761"/>
                </a:solidFill>
                <a:latin typeface="Calibri" pitchFamily="34" charset="0"/>
                <a:ea typeface="Calibri" pitchFamily="34" charset="-122"/>
                <a:cs typeface="Calibri" pitchFamily="34" charset="-120"/>
              </a:rPr>
              <a:t>→ コストは低い（無駄な警戒のみ）</a:t>
            </a:r>
            <a:endParaRPr lang="en-US" sz="1200" dirty="0"/>
          </a:p>
        </p:txBody>
      </p:sp>
      <p:sp>
        <p:nvSpPr>
          <p:cNvPr id="9" name="Shape 7"/>
          <p:cNvSpPr/>
          <p:nvPr/>
        </p:nvSpPr>
        <p:spPr>
          <a:xfrm>
            <a:off x="4754880" y="1645920"/>
            <a:ext cx="3931920" cy="2011680"/>
          </a:xfrm>
          <a:prstGeom prst="rect">
            <a:avLst/>
          </a:prstGeom>
          <a:solidFill>
            <a:srgbClr val="FFFFFF"/>
          </a:solidFill>
          <a:ln w="25400">
            <a:solidFill>
              <a:srgbClr val="B8D4D8"/>
            </a:solidFill>
            <a:prstDash val="solid"/>
          </a:ln>
        </p:spPr>
      </p:sp>
      <p:sp>
        <p:nvSpPr>
          <p:cNvPr id="10" name="Shape 8"/>
          <p:cNvSpPr/>
          <p:nvPr/>
        </p:nvSpPr>
        <p:spPr>
          <a:xfrm>
            <a:off x="4754880" y="1645920"/>
            <a:ext cx="3931920" cy="457200"/>
          </a:xfrm>
          <a:prstGeom prst="rect">
            <a:avLst/>
          </a:prstGeom>
          <a:solidFill>
            <a:srgbClr val="B8D4D8"/>
          </a:solidFill>
          <a:ln/>
        </p:spPr>
      </p:sp>
      <p:sp>
        <p:nvSpPr>
          <p:cNvPr id="11" name="Text 9"/>
          <p:cNvSpPr/>
          <p:nvPr/>
        </p:nvSpPr>
        <p:spPr>
          <a:xfrm>
            <a:off x="4754880" y="1645920"/>
            <a:ext cx="39319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タイプ2の誤り</a:t>
            </a:r>
            <a:endParaRPr lang="en-US" sz="1400" dirty="0"/>
          </a:p>
        </p:txBody>
      </p:sp>
      <p:sp>
        <p:nvSpPr>
          <p:cNvPr id="12" name="Text 10"/>
          <p:cNvSpPr/>
          <p:nvPr/>
        </p:nvSpPr>
        <p:spPr>
          <a:xfrm>
            <a:off x="4937760" y="2194560"/>
            <a:ext cx="3566160" cy="1371600"/>
          </a:xfrm>
          <a:prstGeom prst="rect">
            <a:avLst/>
          </a:prstGeom>
          <a:noFill/>
          <a:ln/>
        </p:spPr>
        <p:txBody>
          <a:bodyPr wrap="square"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意図的な事件を偶発的だと誤認</a:t>
            </a:r>
            <a:endParaRPr lang="en-US" sz="1200" dirty="0"/>
          </a:p>
          <a:p>
            <a:pPr indent="0" marL="0">
              <a:buNone/>
            </a:pPr>
            <a:r>
              <a:rPr lang="en-US" sz="800" dirty="0">
                <a:solidFill>
                  <a:srgbClr val="333333"/>
                </a:solidFill>
                <a:latin typeface="Calibri" pitchFamily="34" charset="0"/>
                <a:ea typeface="Calibri" pitchFamily="34" charset="-122"/>
                <a:cs typeface="Calibri" pitchFamily="34" charset="-120"/>
              </a:rPr>
              <a:t> </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例：敵が潜んでいるのに</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「ただの風」と判断</a:t>
            </a:r>
            <a:endParaRPr lang="en-US" sz="1200" dirty="0"/>
          </a:p>
          <a:p>
            <a:pPr indent="0" marL="0">
              <a:buNone/>
            </a:pPr>
            <a:r>
              <a:rPr lang="en-US" sz="800" dirty="0">
                <a:solidFill>
                  <a:srgbClr val="333333"/>
                </a:solidFill>
                <a:latin typeface="Calibri" pitchFamily="34" charset="0"/>
                <a:ea typeface="Calibri" pitchFamily="34" charset="-122"/>
                <a:cs typeface="Calibri" pitchFamily="34" charset="-120"/>
              </a:rPr>
              <a:t> </a:t>
            </a:r>
            <a:endParaRPr lang="en-US" sz="1200" dirty="0"/>
          </a:p>
          <a:p>
            <a:pPr indent="0" marL="0">
              <a:buNone/>
            </a:pPr>
            <a:r>
              <a:rPr lang="en-US" sz="1200" dirty="0">
                <a:solidFill>
                  <a:srgbClr val="B8D4D8"/>
                </a:solidFill>
                <a:latin typeface="Calibri" pitchFamily="34" charset="0"/>
                <a:ea typeface="Calibri" pitchFamily="34" charset="-122"/>
                <a:cs typeface="Calibri" pitchFamily="34" charset="-120"/>
              </a:rPr>
              <a:t>→ コストは致命的（命を失う）</a:t>
            </a:r>
            <a:endParaRPr lang="en-US" sz="1200" dirty="0"/>
          </a:p>
        </p:txBody>
      </p:sp>
      <p:sp>
        <p:nvSpPr>
          <p:cNvPr id="13" name="Shape 11"/>
          <p:cNvSpPr/>
          <p:nvPr/>
        </p:nvSpPr>
        <p:spPr>
          <a:xfrm>
            <a:off x="457200" y="3840480"/>
            <a:ext cx="8229600" cy="1097280"/>
          </a:xfrm>
          <a:prstGeom prst="rect">
            <a:avLst/>
          </a:prstGeom>
          <a:solidFill>
            <a:srgbClr val="E8F4FC"/>
          </a:solidFill>
          <a:ln/>
        </p:spPr>
      </p:sp>
      <p:sp>
        <p:nvSpPr>
          <p:cNvPr id="14" name="Text 12"/>
          <p:cNvSpPr/>
          <p:nvPr/>
        </p:nvSpPr>
        <p:spPr>
          <a:xfrm>
            <a:off x="640080" y="3977640"/>
            <a:ext cx="7863840" cy="822960"/>
          </a:xfrm>
          <a:prstGeom prst="rect">
            <a:avLst/>
          </a:prstGeom>
          <a:noFill/>
          <a:ln/>
        </p:spPr>
        <p:txBody>
          <a:bodyPr wrap="square"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結論：</a:t>
            </a:r>
            <a:pPr indent="0" marL="0">
              <a:buNone/>
            </a:pPr>
            <a:r>
              <a:rPr lang="en-US" sz="1300" dirty="0">
                <a:solidFill>
                  <a:srgbClr val="333333"/>
                </a:solidFill>
                <a:latin typeface="Calibri" pitchFamily="34" charset="0"/>
                <a:ea typeface="Calibri" pitchFamily="34" charset="-122"/>
                <a:cs typeface="Calibri" pitchFamily="34" charset="-120"/>
              </a:rPr>
              <a:t>タイプ1の誤りを犯す傾向（過剰に意図を読み取る）が進化的に有利だった</a:t>
            </a:r>
            <a:endParaRPr lang="en-US" sz="1300" dirty="0"/>
          </a:p>
          <a:p>
            <a:pPr indent="0" marL="0">
              <a:buNone/>
            </a:pPr>
            <a:r>
              <a:rPr lang="en-US" sz="1300" dirty="0">
                <a:solidFill>
                  <a:srgbClr val="333333"/>
                </a:solidFill>
                <a:latin typeface="Calibri" pitchFamily="34" charset="0"/>
                <a:ea typeface="Calibri" pitchFamily="34" charset="-122"/>
                <a:cs typeface="Calibri" pitchFamily="34" charset="-120"/>
              </a:rPr>
              <a:t>→ 自然現象に「意図」や「行為者」を見出す心理が宗教の起源となった</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Q2: なぜ女性は男性よりも信心深いのか？</a:t>
            </a:r>
            <a:endParaRPr lang="en-US" sz="2800" dirty="0"/>
          </a:p>
        </p:txBody>
      </p:sp>
      <p:sp>
        <p:nvSpPr>
          <p:cNvPr id="3" name="Shape 1"/>
          <p:cNvSpPr/>
          <p:nvPr/>
        </p:nvSpPr>
        <p:spPr>
          <a:xfrm>
            <a:off x="457200" y="868680"/>
            <a:ext cx="1371600" cy="45720"/>
          </a:xfrm>
          <a:prstGeom prst="rect">
            <a:avLst/>
          </a:prstGeom>
          <a:solidFill>
            <a:srgbClr val="C9A227"/>
          </a:solidFill>
          <a:ln/>
        </p:spPr>
      </p:sp>
      <p:sp>
        <p:nvSpPr>
          <p:cNvPr id="4" name="Shape 2"/>
          <p:cNvSpPr/>
          <p:nvPr/>
        </p:nvSpPr>
        <p:spPr>
          <a:xfrm>
            <a:off x="457200" y="1051560"/>
            <a:ext cx="8229600" cy="640080"/>
          </a:xfrm>
          <a:prstGeom prst="rect">
            <a:avLst/>
          </a:prstGeom>
          <a:solidFill>
            <a:srgbClr val="1E2761"/>
          </a:solidFill>
          <a:ln/>
        </p:spPr>
      </p:sp>
      <p:sp>
        <p:nvSpPr>
          <p:cNvPr id="5" name="Text 3"/>
          <p:cNvSpPr/>
          <p:nvPr/>
        </p:nvSpPr>
        <p:spPr>
          <a:xfrm>
            <a:off x="640080" y="1143000"/>
            <a:ext cx="7863840" cy="457200"/>
          </a:xfrm>
          <a:prstGeom prst="rect">
            <a:avLst/>
          </a:prstGeom>
          <a:noFill/>
          <a:ln/>
        </p:spPr>
        <p:txBody>
          <a:bodyPr wrap="square"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あらゆる文化・宗教で、女性の方が信心深いという普遍的パターン</a:t>
            </a:r>
            <a:endParaRPr lang="en-US" sz="1500" dirty="0"/>
          </a:p>
        </p:txBody>
      </p:sp>
      <p:sp>
        <p:nvSpPr>
          <p:cNvPr id="6" name="Text 4"/>
          <p:cNvSpPr/>
          <p:nvPr/>
        </p:nvSpPr>
        <p:spPr>
          <a:xfrm>
            <a:off x="457200" y="1828800"/>
            <a:ext cx="274320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世界各国のデータ：</a:t>
            </a:r>
            <a:endParaRPr lang="en-US" sz="1200" dirty="0"/>
          </a:p>
        </p:txBody>
      </p:sp>
      <p:sp>
        <p:nvSpPr>
          <p:cNvPr id="7" name="Text 5"/>
          <p:cNvSpPr/>
          <p:nvPr/>
        </p:nvSpPr>
        <p:spPr>
          <a:xfrm>
            <a:off x="640080" y="2194560"/>
            <a:ext cx="3657600" cy="274320"/>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 ガーナ（土着宗教）</a:t>
            </a:r>
            <a:endParaRPr lang="en-US" sz="1100" dirty="0"/>
          </a:p>
        </p:txBody>
      </p:sp>
      <p:sp>
        <p:nvSpPr>
          <p:cNvPr id="8" name="Text 6"/>
          <p:cNvSpPr/>
          <p:nvPr/>
        </p:nvSpPr>
        <p:spPr>
          <a:xfrm>
            <a:off x="640080" y="2514600"/>
            <a:ext cx="3657600" cy="274320"/>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 日本（神道）</a:t>
            </a:r>
            <a:endParaRPr lang="en-US" sz="1100" dirty="0"/>
          </a:p>
        </p:txBody>
      </p:sp>
      <p:sp>
        <p:nvSpPr>
          <p:cNvPr id="9" name="Text 7"/>
          <p:cNvSpPr/>
          <p:nvPr/>
        </p:nvSpPr>
        <p:spPr>
          <a:xfrm>
            <a:off x="640080" y="2834640"/>
            <a:ext cx="3657600" cy="274320"/>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 中国（公的には無神論）</a:t>
            </a:r>
            <a:endParaRPr lang="en-US" sz="1100" dirty="0"/>
          </a:p>
        </p:txBody>
      </p:sp>
      <p:sp>
        <p:nvSpPr>
          <p:cNvPr id="10" name="Text 8"/>
          <p:cNvSpPr/>
          <p:nvPr/>
        </p:nvSpPr>
        <p:spPr>
          <a:xfrm>
            <a:off x="4754880" y="2194560"/>
            <a:ext cx="3657600" cy="274320"/>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 トルコ（イスラム教）</a:t>
            </a:r>
            <a:endParaRPr lang="en-US" sz="1100" dirty="0"/>
          </a:p>
        </p:txBody>
      </p:sp>
      <p:sp>
        <p:nvSpPr>
          <p:cNvPr id="11" name="Text 9"/>
          <p:cNvSpPr/>
          <p:nvPr/>
        </p:nvSpPr>
        <p:spPr>
          <a:xfrm>
            <a:off x="4754880" y="2514600"/>
            <a:ext cx="3657600" cy="274320"/>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 ポーランド（カトリック）</a:t>
            </a:r>
            <a:endParaRPr lang="en-US" sz="1100" dirty="0"/>
          </a:p>
        </p:txBody>
      </p:sp>
      <p:sp>
        <p:nvSpPr>
          <p:cNvPr id="12" name="Text 10"/>
          <p:cNvSpPr/>
          <p:nvPr/>
        </p:nvSpPr>
        <p:spPr>
          <a:xfrm>
            <a:off x="4754880" y="2834640"/>
            <a:ext cx="3657600" cy="274320"/>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 アメリカ（プロテスタント）</a:t>
            </a:r>
            <a:endParaRPr lang="en-US" sz="1100" dirty="0"/>
          </a:p>
        </p:txBody>
      </p:sp>
      <p:sp>
        <p:nvSpPr>
          <p:cNvPr id="13" name="Shape 11"/>
          <p:cNvSpPr/>
          <p:nvPr/>
        </p:nvSpPr>
        <p:spPr>
          <a:xfrm>
            <a:off x="457200" y="3291840"/>
            <a:ext cx="3931920" cy="1463040"/>
          </a:xfrm>
          <a:prstGeom prst="rect">
            <a:avLst/>
          </a:prstGeom>
          <a:solidFill>
            <a:srgbClr val="FFFFFF"/>
          </a:solidFill>
          <a:ln w="12700">
            <a:solidFill>
              <a:srgbClr val="999999"/>
            </a:solidFill>
            <a:prstDash val="solid"/>
          </a:ln>
        </p:spPr>
      </p:sp>
      <p:sp>
        <p:nvSpPr>
          <p:cNvPr id="14" name="Text 12"/>
          <p:cNvSpPr/>
          <p:nvPr/>
        </p:nvSpPr>
        <p:spPr>
          <a:xfrm>
            <a:off x="457200" y="3291840"/>
            <a:ext cx="3931920" cy="365760"/>
          </a:xfrm>
          <a:prstGeom prst="rect">
            <a:avLst/>
          </a:prstGeom>
          <a:noFill/>
          <a:ln/>
        </p:spPr>
        <p:txBody>
          <a:bodyPr wrap="square" rtlCol="0" anchor="ctr"/>
          <a:lstStyle/>
          <a:p>
            <a:pPr algn="ctr" indent="0" marL="0">
              <a:buNone/>
            </a:pPr>
            <a:r>
              <a:rPr lang="en-US" sz="1200" b="1" dirty="0">
                <a:solidFill>
                  <a:srgbClr val="666666"/>
                </a:solidFill>
                <a:latin typeface="Calibri" pitchFamily="34" charset="0"/>
                <a:ea typeface="Calibri" pitchFamily="34" charset="-122"/>
                <a:cs typeface="Calibri" pitchFamily="34" charset="-120"/>
              </a:rPr>
              <a:t>標準社会科学モデルの説明</a:t>
            </a:r>
            <a:endParaRPr lang="en-US" sz="1200" dirty="0"/>
          </a:p>
        </p:txBody>
      </p:sp>
      <p:sp>
        <p:nvSpPr>
          <p:cNvPr id="15" name="Text 13"/>
          <p:cNvSpPr/>
          <p:nvPr/>
        </p:nvSpPr>
        <p:spPr>
          <a:xfrm>
            <a:off x="548640" y="3703320"/>
            <a:ext cx="3749040" cy="1005840"/>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女性は社会化によって服従的に</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育てられるため宗教を受け入れやすい</a:t>
            </a:r>
            <a:endParaRPr lang="en-US" sz="1100" dirty="0"/>
          </a:p>
          <a:p>
            <a:pPr indent="0" marL="0">
              <a:buNone/>
            </a:pPr>
            <a:r>
              <a:rPr lang="en-US" sz="600" dirty="0">
                <a:solidFill>
                  <a:srgbClr val="333333"/>
                </a:solidFill>
                <a:latin typeface="Calibri" pitchFamily="34" charset="0"/>
                <a:ea typeface="Calibri" pitchFamily="34" charset="-122"/>
                <a:cs typeface="Calibri" pitchFamily="34" charset="-120"/>
              </a:rPr>
              <a:t> </a:t>
            </a:r>
            <a:endParaRPr lang="en-US" sz="1100" dirty="0"/>
          </a:p>
          <a:p>
            <a:pPr indent="0" marL="0">
              <a:buNone/>
            </a:pPr>
            <a:r>
              <a:rPr lang="en-US" sz="1100" dirty="0">
                <a:solidFill>
                  <a:srgbClr val="B8D4D8"/>
                </a:solidFill>
                <a:latin typeface="Calibri" pitchFamily="34" charset="0"/>
                <a:ea typeface="Calibri" pitchFamily="34" charset="-122"/>
                <a:cs typeface="Calibri" pitchFamily="34" charset="-120"/>
              </a:rPr>
              <a:t>× だが、これでは「あらゆる文化で</a:t>
            </a:r>
            <a:endParaRPr lang="en-US" sz="1100" dirty="0"/>
          </a:p>
          <a:p>
            <a:pPr indent="0" marL="0">
              <a:buNone/>
            </a:pPr>
            <a:r>
              <a:rPr lang="en-US" sz="1100" dirty="0">
                <a:solidFill>
                  <a:srgbClr val="B8D4D8"/>
                </a:solidFill>
                <a:latin typeface="Calibri" pitchFamily="34" charset="0"/>
                <a:ea typeface="Calibri" pitchFamily="34" charset="-122"/>
                <a:cs typeface="Calibri" pitchFamily="34" charset="-120"/>
              </a:rPr>
              <a:t>普遍的」な理由を説明できない</a:t>
            </a:r>
            <a:endParaRPr lang="en-US" sz="1100" dirty="0"/>
          </a:p>
        </p:txBody>
      </p:sp>
      <p:sp>
        <p:nvSpPr>
          <p:cNvPr id="16" name="Shape 14"/>
          <p:cNvSpPr/>
          <p:nvPr/>
        </p:nvSpPr>
        <p:spPr>
          <a:xfrm>
            <a:off x="4754880" y="3291840"/>
            <a:ext cx="3931920" cy="1463040"/>
          </a:xfrm>
          <a:prstGeom prst="rect">
            <a:avLst/>
          </a:prstGeom>
          <a:solidFill>
            <a:srgbClr val="E8F4FC"/>
          </a:solidFill>
          <a:ln w="25400">
            <a:solidFill>
              <a:srgbClr val="1E2761"/>
            </a:solidFill>
            <a:prstDash val="solid"/>
          </a:ln>
        </p:spPr>
      </p:sp>
      <p:sp>
        <p:nvSpPr>
          <p:cNvPr id="17" name="Text 15"/>
          <p:cNvSpPr/>
          <p:nvPr/>
        </p:nvSpPr>
        <p:spPr>
          <a:xfrm>
            <a:off x="4754880" y="3291840"/>
            <a:ext cx="3931920" cy="36576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進化心理学の説明</a:t>
            </a:r>
            <a:endParaRPr lang="en-US" sz="1200" dirty="0"/>
          </a:p>
        </p:txBody>
      </p:sp>
      <p:sp>
        <p:nvSpPr>
          <p:cNvPr id="18" name="Text 16"/>
          <p:cNvSpPr/>
          <p:nvPr/>
        </p:nvSpPr>
        <p:spPr>
          <a:xfrm>
            <a:off x="4846320" y="3703320"/>
            <a:ext cx="3749040" cy="1005840"/>
          </a:xfrm>
          <a:prstGeom prst="rect">
            <a:avLst/>
          </a:prstGeom>
          <a:noFill/>
          <a:ln/>
        </p:spPr>
        <p:txBody>
          <a:bodyPr wrap="square" rtlCol="0" anchor="ctr"/>
          <a:lstStyle/>
          <a:p>
            <a:pPr indent="0" marL="0">
              <a:buNone/>
            </a:pPr>
            <a:r>
              <a:rPr lang="en-US" sz="1100" b="1" dirty="0">
                <a:solidFill>
                  <a:srgbClr val="333333"/>
                </a:solidFill>
                <a:latin typeface="Calibri" pitchFamily="34" charset="0"/>
                <a:ea typeface="Calibri" pitchFamily="34" charset="-122"/>
                <a:cs typeface="Calibri" pitchFamily="34" charset="-120"/>
              </a:rPr>
              <a:t>女性はリスク回避的である</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 「来世」への保険をかける傾向</a:t>
            </a:r>
            <a:endParaRPr lang="en-US" sz="1100" dirty="0"/>
          </a:p>
          <a:p>
            <a:pPr indent="0" marL="0">
              <a:buNone/>
            </a:pPr>
            <a:r>
              <a:rPr lang="en-US" sz="600" dirty="0">
                <a:solidFill>
                  <a:srgbClr val="333333"/>
                </a:solidFill>
                <a:latin typeface="Calibri" pitchFamily="34" charset="0"/>
                <a:ea typeface="Calibri" pitchFamily="34" charset="-122"/>
                <a:cs typeface="Calibri" pitchFamily="34" charset="-120"/>
              </a:rPr>
              <a:t> </a:t>
            </a:r>
            <a:endParaRPr lang="en-US" sz="1100" dirty="0"/>
          </a:p>
          <a:p>
            <a:pPr indent="0" marL="0">
              <a:buNone/>
            </a:pPr>
            <a:r>
              <a:rPr lang="en-US" sz="1100" dirty="0">
                <a:solidFill>
                  <a:srgbClr val="1E2761"/>
                </a:solidFill>
                <a:latin typeface="Calibri" pitchFamily="34" charset="0"/>
                <a:ea typeface="Calibri" pitchFamily="34" charset="-122"/>
                <a:cs typeface="Calibri" pitchFamily="34" charset="-120"/>
              </a:rPr>
              <a:t>◯ 普遍的な性差として説明可能</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Q3: なぜ自爆テロ犯の多くはイスラム教徒なのか？</a:t>
            </a:r>
            <a:endParaRPr lang="en-US" sz="2800" dirty="0"/>
          </a:p>
        </p:txBody>
      </p:sp>
      <p:sp>
        <p:nvSpPr>
          <p:cNvPr id="3" name="Shape 1"/>
          <p:cNvSpPr/>
          <p:nvPr/>
        </p:nvSpPr>
        <p:spPr>
          <a:xfrm>
            <a:off x="457200" y="868680"/>
            <a:ext cx="1371600" cy="45720"/>
          </a:xfrm>
          <a:prstGeom prst="rect">
            <a:avLst/>
          </a:prstGeom>
          <a:solidFill>
            <a:srgbClr val="C9A227"/>
          </a:solidFill>
          <a:ln/>
        </p:spPr>
      </p:sp>
      <p:sp>
        <p:nvSpPr>
          <p:cNvPr id="4" name="Text 2"/>
          <p:cNvSpPr/>
          <p:nvPr/>
        </p:nvSpPr>
        <p:spPr>
          <a:xfrm>
            <a:off x="457200" y="1051560"/>
            <a:ext cx="8229600" cy="457200"/>
          </a:xfrm>
          <a:prstGeom prst="rect">
            <a:avLst/>
          </a:prstGeom>
          <a:noFill/>
          <a:ln/>
        </p:spPr>
        <p:txBody>
          <a:bodyPr wrap="square" rtlCol="0" anchor="ctr"/>
          <a:lstStyle/>
          <a:p>
            <a:pPr indent="0" marL="0">
              <a:buNone/>
            </a:pPr>
            <a:r>
              <a:rPr lang="en-US" sz="1400" b="1" i="1" dirty="0">
                <a:solidFill>
                  <a:srgbClr val="1E2761"/>
                </a:solidFill>
                <a:latin typeface="Calibri" pitchFamily="34" charset="0"/>
                <a:ea typeface="Calibri" pitchFamily="34" charset="-122"/>
                <a:cs typeface="Calibri" pitchFamily="34" charset="-120"/>
              </a:rPr>
              <a:t>進化心理学の視点：自爆テロは「宗教」ではなく「セックス」と関係している</a:t>
            </a:r>
            <a:endParaRPr lang="en-US" sz="1400" dirty="0"/>
          </a:p>
        </p:txBody>
      </p:sp>
      <p:sp>
        <p:nvSpPr>
          <p:cNvPr id="5" name="Shape 3"/>
          <p:cNvSpPr/>
          <p:nvPr/>
        </p:nvSpPr>
        <p:spPr>
          <a:xfrm>
            <a:off x="457200" y="1600200"/>
            <a:ext cx="8229600" cy="1737360"/>
          </a:xfrm>
          <a:prstGeom prst="rect">
            <a:avLst/>
          </a:prstGeom>
          <a:solidFill>
            <a:srgbClr val="FFFFFF"/>
          </a:solidFill>
          <a:ln w="12700">
            <a:solidFill>
              <a:srgbClr val="C9A227"/>
            </a:solidFill>
            <a:prstDash val="solid"/>
          </a:ln>
        </p:spPr>
      </p:sp>
      <p:sp>
        <p:nvSpPr>
          <p:cNvPr id="6" name="Text 4"/>
          <p:cNvSpPr/>
          <p:nvPr/>
        </p:nvSpPr>
        <p:spPr>
          <a:xfrm>
            <a:off x="548640" y="1691640"/>
            <a:ext cx="804672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一夫多妻制と繁殖機会の不均衡</a:t>
            </a:r>
            <a:endParaRPr lang="en-US" sz="1400" dirty="0"/>
          </a:p>
        </p:txBody>
      </p:sp>
      <p:sp>
        <p:nvSpPr>
          <p:cNvPr id="7" name="Text 5"/>
          <p:cNvSpPr/>
          <p:nvPr/>
        </p:nvSpPr>
        <p:spPr>
          <a:xfrm>
            <a:off x="640080" y="2057400"/>
            <a:ext cx="7863840" cy="118872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 イスラム教は一夫多妻（最大4人の妻）を認めている</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一部の男性が複数の女性を独占 → 多くの男性に配偶者がいない</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配偶者を持てない男性の割合：一夫多妻社会で最大75%</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繁殖の見込みがない男性は「完全な負け犬」として人生を終える可能性に直面</a:t>
            </a:r>
            <a:endParaRPr lang="en-US" sz="1200" dirty="0"/>
          </a:p>
        </p:txBody>
      </p:sp>
      <p:sp>
        <p:nvSpPr>
          <p:cNvPr id="8" name="Shape 6"/>
          <p:cNvSpPr/>
          <p:nvPr/>
        </p:nvSpPr>
        <p:spPr>
          <a:xfrm>
            <a:off x="457200" y="3474720"/>
            <a:ext cx="8229600" cy="1371600"/>
          </a:xfrm>
          <a:prstGeom prst="rect">
            <a:avLst/>
          </a:prstGeom>
          <a:solidFill>
            <a:srgbClr val="E8F4FC"/>
          </a:solidFill>
          <a:ln/>
        </p:spPr>
      </p:sp>
      <p:sp>
        <p:nvSpPr>
          <p:cNvPr id="9" name="Text 7"/>
          <p:cNvSpPr/>
          <p:nvPr/>
        </p:nvSpPr>
        <p:spPr>
          <a:xfrm>
            <a:off x="548640" y="3566160"/>
            <a:ext cx="804672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進化心理学的結論</a:t>
            </a:r>
            <a:endParaRPr lang="en-US" sz="1300" dirty="0"/>
          </a:p>
        </p:txBody>
      </p:sp>
      <p:sp>
        <p:nvSpPr>
          <p:cNvPr id="10" name="Text 8"/>
          <p:cNvSpPr/>
          <p:nvPr/>
        </p:nvSpPr>
        <p:spPr>
          <a:xfrm>
            <a:off x="640080" y="3931920"/>
            <a:ext cx="7863840" cy="86868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自爆テロは「天国で72人の処女」という約束への反応ではなく、</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現世で繁殖機会を得られない男性の極端なリスクテイキング行動</a:t>
            </a:r>
            <a:endParaRPr lang="en-US" sz="1200" dirty="0"/>
          </a:p>
          <a:p>
            <a:pPr indent="0" marL="0">
              <a:buNone/>
            </a:pPr>
            <a:r>
              <a:rPr lang="en-US" sz="600" dirty="0">
                <a:solidFill>
                  <a:srgbClr val="333333"/>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3333"/>
                </a:solidFill>
                <a:latin typeface="Calibri" pitchFamily="34" charset="0"/>
                <a:ea typeface="Calibri" pitchFamily="34" charset="-122"/>
                <a:cs typeface="Calibri" pitchFamily="34" charset="-120"/>
              </a:rPr>
              <a:t>→ 第6章「なぜ若い男は危険なのか」と同じ心理メカニズム</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Q4: なぜ世界中で民族紛争が絶えないのか？</a:t>
            </a:r>
            <a:endParaRPr lang="en-US" sz="2800" dirty="0"/>
          </a:p>
        </p:txBody>
      </p:sp>
      <p:sp>
        <p:nvSpPr>
          <p:cNvPr id="3" name="Shape 1"/>
          <p:cNvSpPr/>
          <p:nvPr/>
        </p:nvSpPr>
        <p:spPr>
          <a:xfrm>
            <a:off x="457200" y="868680"/>
            <a:ext cx="1371600" cy="45720"/>
          </a:xfrm>
          <a:prstGeom prst="rect">
            <a:avLst/>
          </a:prstGeom>
          <a:solidFill>
            <a:srgbClr val="C9A227"/>
          </a:solidFill>
          <a:ln/>
        </p:spPr>
      </p:sp>
      <p:sp>
        <p:nvSpPr>
          <p:cNvPr id="4" name="Shape 2"/>
          <p:cNvSpPr/>
          <p:nvPr/>
        </p:nvSpPr>
        <p:spPr>
          <a:xfrm>
            <a:off x="457200" y="1051560"/>
            <a:ext cx="8229600" cy="594360"/>
          </a:xfrm>
          <a:prstGeom prst="rect">
            <a:avLst/>
          </a:prstGeom>
          <a:solidFill>
            <a:srgbClr val="1E2761"/>
          </a:solidFill>
          <a:ln/>
        </p:spPr>
      </p:sp>
      <p:sp>
        <p:nvSpPr>
          <p:cNvPr id="5" name="Text 3"/>
          <p:cNvSpPr/>
          <p:nvPr/>
        </p:nvSpPr>
        <p:spPr>
          <a:xfrm>
            <a:off x="640080" y="1143000"/>
            <a:ext cx="7863840" cy="41148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自民族中心主義（エスノセントリズム）は生得的である</a:t>
            </a:r>
            <a:endParaRPr lang="en-US" sz="1600" dirty="0"/>
          </a:p>
        </p:txBody>
      </p:sp>
      <p:sp>
        <p:nvSpPr>
          <p:cNvPr id="6" name="Text 4"/>
          <p:cNvSpPr/>
          <p:nvPr/>
        </p:nvSpPr>
        <p:spPr>
          <a:xfrm>
            <a:off x="457200" y="1783080"/>
            <a:ext cx="8229600" cy="365760"/>
          </a:xfrm>
          <a:prstGeom prst="rect">
            <a:avLst/>
          </a:prstGeom>
          <a:noFill/>
          <a:ln/>
        </p:spPr>
        <p:txBody>
          <a:bodyPr wrap="square" rtlCol="0" anchor="ctr"/>
          <a:lstStyle/>
          <a:p>
            <a:pPr indent="0" marL="0">
              <a:buNone/>
            </a:pPr>
            <a:r>
              <a:rPr lang="en-US" sz="1400" i="1" dirty="0">
                <a:solidFill>
                  <a:srgbClr val="333333"/>
                </a:solidFill>
                <a:latin typeface="Calibri" pitchFamily="34" charset="0"/>
                <a:ea typeface="Calibri" pitchFamily="34" charset="-122"/>
                <a:cs typeface="Calibri" pitchFamily="34" charset="-120"/>
              </a:rPr>
              <a:t>「内輪」を優遇し「よそ者」を犠牲にする傾向</a:t>
            </a:r>
            <a:endParaRPr lang="en-US" sz="1400" dirty="0"/>
          </a:p>
        </p:txBody>
      </p:sp>
      <p:sp>
        <p:nvSpPr>
          <p:cNvPr id="7" name="Shape 5"/>
          <p:cNvSpPr/>
          <p:nvPr/>
        </p:nvSpPr>
        <p:spPr>
          <a:xfrm>
            <a:off x="457200" y="2240280"/>
            <a:ext cx="3931920" cy="1828800"/>
          </a:xfrm>
          <a:prstGeom prst="rect">
            <a:avLst/>
          </a:prstGeom>
          <a:solidFill>
            <a:srgbClr val="FFFFFF"/>
          </a:solidFill>
          <a:ln w="12700">
            <a:solidFill>
              <a:srgbClr val="C9A227"/>
            </a:solidFill>
            <a:prstDash val="solid"/>
          </a:ln>
        </p:spPr>
      </p:sp>
      <p:sp>
        <p:nvSpPr>
          <p:cNvPr id="8" name="Text 6"/>
          <p:cNvSpPr/>
          <p:nvPr/>
        </p:nvSpPr>
        <p:spPr>
          <a:xfrm>
            <a:off x="548640" y="2331720"/>
            <a:ext cx="374904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ロバート・O・カズバンの実験</a:t>
            </a:r>
            <a:endParaRPr lang="en-US" sz="1200" dirty="0"/>
          </a:p>
        </p:txBody>
      </p:sp>
      <p:sp>
        <p:nvSpPr>
          <p:cNvPr id="9" name="Text 7"/>
          <p:cNvSpPr/>
          <p:nvPr/>
        </p:nvSpPr>
        <p:spPr>
          <a:xfrm>
            <a:off x="548640" y="2697480"/>
            <a:ext cx="3749040" cy="1280160"/>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「最小集団パラダイム」を用いた実験：</a:t>
            </a:r>
            <a:endParaRPr lang="en-US" sz="1100" dirty="0"/>
          </a:p>
          <a:p>
            <a:pPr indent="0" marL="0">
              <a:buNone/>
            </a:pPr>
            <a:r>
              <a:rPr lang="en-US" sz="400" dirty="0">
                <a:solidFill>
                  <a:srgbClr val="333333"/>
                </a:solidFill>
                <a:latin typeface="Calibri" pitchFamily="34" charset="0"/>
                <a:ea typeface="Calibri" pitchFamily="34" charset="-122"/>
                <a:cs typeface="Calibri" pitchFamily="34" charset="-120"/>
              </a:rPr>
              <a:t> </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 完全に恣意的な基準で集団を分ける</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 人種・性別・世代は固定的カテゴリー</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  ではないことが判明</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 わずか4分で新しい「仲間」への</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  好意が形成される</a:t>
            </a:r>
            <a:endParaRPr lang="en-US" sz="1100" dirty="0"/>
          </a:p>
        </p:txBody>
      </p:sp>
      <p:sp>
        <p:nvSpPr>
          <p:cNvPr id="10" name="Shape 8"/>
          <p:cNvSpPr/>
          <p:nvPr/>
        </p:nvSpPr>
        <p:spPr>
          <a:xfrm>
            <a:off x="4754880" y="2240280"/>
            <a:ext cx="3931920" cy="1828800"/>
          </a:xfrm>
          <a:prstGeom prst="rect">
            <a:avLst/>
          </a:prstGeom>
          <a:solidFill>
            <a:srgbClr val="E8F4FC"/>
          </a:solidFill>
          <a:ln/>
        </p:spPr>
      </p:sp>
      <p:sp>
        <p:nvSpPr>
          <p:cNvPr id="11" name="Text 9"/>
          <p:cNvSpPr/>
          <p:nvPr/>
        </p:nvSpPr>
        <p:spPr>
          <a:xfrm>
            <a:off x="4846320" y="2331720"/>
            <a:ext cx="374904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進化心理学的説明</a:t>
            </a:r>
            <a:endParaRPr lang="en-US" sz="1200" dirty="0"/>
          </a:p>
        </p:txBody>
      </p:sp>
      <p:sp>
        <p:nvSpPr>
          <p:cNvPr id="12" name="Text 10"/>
          <p:cNvSpPr/>
          <p:nvPr/>
        </p:nvSpPr>
        <p:spPr>
          <a:xfrm>
            <a:off x="4846320" y="2697480"/>
            <a:ext cx="3749040" cy="1280160"/>
          </a:xfrm>
          <a:prstGeom prst="rect">
            <a:avLst/>
          </a:prstGeom>
          <a:noFill/>
          <a:ln/>
        </p:spPr>
        <p:txBody>
          <a:bodyPr wrap="square" rtlCol="0" anchor="ctr"/>
          <a:lstStyle/>
          <a:p>
            <a:pPr indent="0" marL="0">
              <a:buNone/>
            </a:pPr>
            <a:r>
              <a:rPr lang="en-US" sz="1100" b="1" dirty="0">
                <a:solidFill>
                  <a:srgbClr val="333333"/>
                </a:solidFill>
                <a:latin typeface="Calibri" pitchFamily="34" charset="0"/>
                <a:ea typeface="Calibri" pitchFamily="34" charset="-122"/>
                <a:cs typeface="Calibri" pitchFamily="34" charset="-120"/>
              </a:rPr>
              <a:t>祖先の環境では：</a:t>
            </a:r>
            <a:endParaRPr lang="en-US" sz="1100" dirty="0"/>
          </a:p>
          <a:p>
            <a:pPr indent="0" marL="0">
              <a:buNone/>
            </a:pPr>
            <a:r>
              <a:rPr lang="en-US" sz="400" dirty="0">
                <a:solidFill>
                  <a:srgbClr val="333333"/>
                </a:solidFill>
                <a:latin typeface="Calibri" pitchFamily="34" charset="0"/>
                <a:ea typeface="Calibri" pitchFamily="34" charset="-122"/>
                <a:cs typeface="Calibri" pitchFamily="34" charset="-120"/>
              </a:rPr>
              <a:t> </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 「内輪」＝遺伝的に近い親族集団</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 「よそ者」＝資源をめぐる競争相手</a:t>
            </a:r>
            <a:endParaRPr lang="en-US" sz="1100" dirty="0"/>
          </a:p>
          <a:p>
            <a:pPr indent="0" marL="0">
              <a:buNone/>
            </a:pPr>
            <a:r>
              <a:rPr lang="en-US" sz="400" dirty="0">
                <a:solidFill>
                  <a:srgbClr val="333333"/>
                </a:solidFill>
                <a:latin typeface="Calibri" pitchFamily="34" charset="0"/>
                <a:ea typeface="Calibri" pitchFamily="34" charset="-122"/>
                <a:cs typeface="Calibri" pitchFamily="34" charset="-120"/>
              </a:rPr>
              <a:t> </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 自分の属する集団を助け、</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他集団を警戒する心理が適応的だった</a:t>
            </a:r>
            <a:endParaRPr lang="en-US" sz="1100" dirty="0"/>
          </a:p>
        </p:txBody>
      </p:sp>
      <p:sp>
        <p:nvSpPr>
          <p:cNvPr id="13" name="Text 11"/>
          <p:cNvSpPr/>
          <p:nvPr/>
        </p:nvSpPr>
        <p:spPr>
          <a:xfrm>
            <a:off x="457200" y="4206240"/>
            <a:ext cx="822960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現代社会では、この生得的な傾向が民族紛争・宗教対立・国家間紛争の根底にある</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Q5: 独身女性と独身男性の外国への態度</a:t>
            </a:r>
            <a:endParaRPr lang="en-US" sz="2800" dirty="0"/>
          </a:p>
        </p:txBody>
      </p:sp>
      <p:sp>
        <p:nvSpPr>
          <p:cNvPr id="3" name="Shape 1"/>
          <p:cNvSpPr/>
          <p:nvPr/>
        </p:nvSpPr>
        <p:spPr>
          <a:xfrm>
            <a:off x="457200" y="868680"/>
            <a:ext cx="1371600" cy="45720"/>
          </a:xfrm>
          <a:prstGeom prst="rect">
            <a:avLst/>
          </a:prstGeom>
          <a:solidFill>
            <a:srgbClr val="C9A227"/>
          </a:solidFill>
          <a:ln/>
        </p:spPr>
      </p:sp>
      <p:sp>
        <p:nvSpPr>
          <p:cNvPr id="4" name="Text 2"/>
          <p:cNvSpPr/>
          <p:nvPr/>
        </p:nvSpPr>
        <p:spPr>
          <a:xfrm>
            <a:off x="457200" y="1051560"/>
            <a:ext cx="8229600" cy="365760"/>
          </a:xfrm>
          <a:prstGeom prst="rect">
            <a:avLst/>
          </a:prstGeom>
          <a:noFill/>
          <a:ln/>
        </p:spPr>
        <p:txBody>
          <a:bodyPr wrap="square" rtlCol="0" anchor="ctr"/>
          <a:lstStyle/>
          <a:p>
            <a:pPr indent="0" marL="0">
              <a:buNone/>
            </a:pPr>
            <a:r>
              <a:rPr lang="en-US" sz="1300" i="1" dirty="0">
                <a:solidFill>
                  <a:srgbClr val="333333"/>
                </a:solidFill>
                <a:latin typeface="Calibri" pitchFamily="34" charset="0"/>
                <a:ea typeface="Calibri" pitchFamily="34" charset="-122"/>
                <a:cs typeface="Calibri" pitchFamily="34" charset="-120"/>
              </a:rPr>
              <a:t>ヨーロッパでの大規模調査結果：独身女性と独身男性で外国への態度が正反対</a:t>
            </a:r>
            <a:endParaRPr lang="en-US" sz="1300" dirty="0"/>
          </a:p>
        </p:txBody>
      </p:sp>
      <p:sp>
        <p:nvSpPr>
          <p:cNvPr id="5" name="Shape 3"/>
          <p:cNvSpPr/>
          <p:nvPr/>
        </p:nvSpPr>
        <p:spPr>
          <a:xfrm>
            <a:off x="457200" y="1554480"/>
            <a:ext cx="3931920" cy="2286000"/>
          </a:xfrm>
          <a:prstGeom prst="rect">
            <a:avLst/>
          </a:prstGeom>
          <a:solidFill>
            <a:srgbClr val="FFFFFF"/>
          </a:solidFill>
          <a:ln w="25400">
            <a:solidFill>
              <a:srgbClr val="C9A227"/>
            </a:solidFill>
            <a:prstDash val="solid"/>
          </a:ln>
        </p:spPr>
      </p:sp>
      <p:sp>
        <p:nvSpPr>
          <p:cNvPr id="6" name="Shape 4"/>
          <p:cNvSpPr/>
          <p:nvPr/>
        </p:nvSpPr>
        <p:spPr>
          <a:xfrm>
            <a:off x="457200" y="1554480"/>
            <a:ext cx="3931920" cy="457200"/>
          </a:xfrm>
          <a:prstGeom prst="rect">
            <a:avLst/>
          </a:prstGeom>
          <a:solidFill>
            <a:srgbClr val="C9A227"/>
          </a:solidFill>
          <a:ln/>
        </p:spPr>
      </p:sp>
      <p:sp>
        <p:nvSpPr>
          <p:cNvPr id="7" name="Text 5"/>
          <p:cNvSpPr/>
          <p:nvPr/>
        </p:nvSpPr>
        <p:spPr>
          <a:xfrm>
            <a:off x="457200" y="1554480"/>
            <a:ext cx="39319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独身女性</a:t>
            </a:r>
            <a:endParaRPr lang="en-US" sz="1400" dirty="0"/>
          </a:p>
        </p:txBody>
      </p:sp>
      <p:sp>
        <p:nvSpPr>
          <p:cNvPr id="8" name="Text 6"/>
          <p:cNvSpPr/>
          <p:nvPr/>
        </p:nvSpPr>
        <p:spPr>
          <a:xfrm>
            <a:off x="640080" y="2103120"/>
            <a:ext cx="3566160" cy="164592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 海外旅行を好む</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異文化に開放的</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外国人に友好的</a:t>
            </a:r>
            <a:endParaRPr lang="en-US" sz="1200" dirty="0"/>
          </a:p>
          <a:p>
            <a:pPr indent="0" marL="0">
              <a:buNone/>
            </a:pPr>
            <a:r>
              <a:rPr lang="en-US" sz="600" dirty="0">
                <a:solidFill>
                  <a:srgbClr val="333333"/>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3333"/>
                </a:solidFill>
                <a:latin typeface="Calibri" pitchFamily="34" charset="0"/>
                <a:ea typeface="Calibri" pitchFamily="34" charset="-122"/>
                <a:cs typeface="Calibri" pitchFamily="34" charset="-120"/>
              </a:rPr>
              <a:t>進化心理学的説明：</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新しい環境 ＝ 潜在的な配偶者の</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プールを広げる機会</a:t>
            </a:r>
            <a:endParaRPr lang="en-US" sz="1200" dirty="0"/>
          </a:p>
        </p:txBody>
      </p:sp>
      <p:sp>
        <p:nvSpPr>
          <p:cNvPr id="9" name="Shape 7"/>
          <p:cNvSpPr/>
          <p:nvPr/>
        </p:nvSpPr>
        <p:spPr>
          <a:xfrm>
            <a:off x="4754880" y="1554480"/>
            <a:ext cx="3931920" cy="2286000"/>
          </a:xfrm>
          <a:prstGeom prst="rect">
            <a:avLst/>
          </a:prstGeom>
          <a:solidFill>
            <a:srgbClr val="FFFFFF"/>
          </a:solidFill>
          <a:ln w="25400">
            <a:solidFill>
              <a:srgbClr val="B8D4D8"/>
            </a:solidFill>
            <a:prstDash val="solid"/>
          </a:ln>
        </p:spPr>
      </p:sp>
      <p:sp>
        <p:nvSpPr>
          <p:cNvPr id="10" name="Shape 8"/>
          <p:cNvSpPr/>
          <p:nvPr/>
        </p:nvSpPr>
        <p:spPr>
          <a:xfrm>
            <a:off x="4754880" y="1554480"/>
            <a:ext cx="3931920" cy="457200"/>
          </a:xfrm>
          <a:prstGeom prst="rect">
            <a:avLst/>
          </a:prstGeom>
          <a:solidFill>
            <a:srgbClr val="B8D4D8"/>
          </a:solidFill>
          <a:ln/>
        </p:spPr>
      </p:sp>
      <p:sp>
        <p:nvSpPr>
          <p:cNvPr id="11" name="Text 9"/>
          <p:cNvSpPr/>
          <p:nvPr/>
        </p:nvSpPr>
        <p:spPr>
          <a:xfrm>
            <a:off x="4754880" y="1554480"/>
            <a:ext cx="39319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独身男性</a:t>
            </a:r>
            <a:endParaRPr lang="en-US" sz="1400" dirty="0"/>
          </a:p>
        </p:txBody>
      </p:sp>
      <p:sp>
        <p:nvSpPr>
          <p:cNvPr id="12" name="Text 10"/>
          <p:cNvSpPr/>
          <p:nvPr/>
        </p:nvSpPr>
        <p:spPr>
          <a:xfrm>
            <a:off x="4937760" y="2103120"/>
            <a:ext cx="3566160" cy="164592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 外国旅行を避ける</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異文化に排他的</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外国人に敵対的</a:t>
            </a:r>
            <a:endParaRPr lang="en-US" sz="1200" dirty="0"/>
          </a:p>
          <a:p>
            <a:pPr indent="0" marL="0">
              <a:buNone/>
            </a:pPr>
            <a:r>
              <a:rPr lang="en-US" sz="600" dirty="0">
                <a:solidFill>
                  <a:srgbClr val="333333"/>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333333"/>
                </a:solidFill>
                <a:latin typeface="Calibri" pitchFamily="34" charset="0"/>
                <a:ea typeface="Calibri" pitchFamily="34" charset="-122"/>
                <a:cs typeface="Calibri" pitchFamily="34" charset="-120"/>
              </a:rPr>
              <a:t>進化心理学的説明：</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外国人男性 ＝ 配偶者をめぐる</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競争相手</a:t>
            </a:r>
            <a:endParaRPr lang="en-US" sz="1200" dirty="0"/>
          </a:p>
        </p:txBody>
      </p:sp>
      <p:sp>
        <p:nvSpPr>
          <p:cNvPr id="13" name="Shape 11"/>
          <p:cNvSpPr/>
          <p:nvPr/>
        </p:nvSpPr>
        <p:spPr>
          <a:xfrm>
            <a:off x="457200" y="4023360"/>
            <a:ext cx="8229600" cy="822960"/>
          </a:xfrm>
          <a:prstGeom prst="rect">
            <a:avLst/>
          </a:prstGeom>
          <a:solidFill>
            <a:srgbClr val="E8F4FC"/>
          </a:solidFill>
          <a:ln/>
        </p:spPr>
      </p:sp>
      <p:sp>
        <p:nvSpPr>
          <p:cNvPr id="14" name="Text 12"/>
          <p:cNvSpPr/>
          <p:nvPr/>
        </p:nvSpPr>
        <p:spPr>
          <a:xfrm>
            <a:off x="640080" y="4114800"/>
            <a:ext cx="7863840" cy="640080"/>
          </a:xfrm>
          <a:prstGeom prst="rect">
            <a:avLst/>
          </a:prstGeom>
          <a:noFill/>
          <a:ln/>
        </p:spPr>
        <p:txBody>
          <a:bodyPr wrap="square"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興味深い発見：</a:t>
            </a:r>
            <a:pPr indent="0" marL="0">
              <a:buNone/>
            </a:pPr>
            <a:r>
              <a:rPr lang="en-US" sz="1200" dirty="0">
                <a:solidFill>
                  <a:srgbClr val="333333"/>
                </a:solidFill>
                <a:latin typeface="Calibri" pitchFamily="34" charset="0"/>
                <a:ea typeface="Calibri" pitchFamily="34" charset="-122"/>
                <a:cs typeface="Calibri" pitchFamily="34" charset="-120"/>
              </a:rPr>
              <a:t>既婚男性と既婚女性では、この差がほとんど消失する</a:t>
            </a: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 配偶者獲得競争から「引退」すると、外国への態度も中立化する</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男性の「レック」行動</a:t>
            </a:r>
            <a:endParaRPr lang="en-US" sz="2800" dirty="0"/>
          </a:p>
        </p:txBody>
      </p:sp>
      <p:sp>
        <p:nvSpPr>
          <p:cNvPr id="3" name="Shape 1"/>
          <p:cNvSpPr/>
          <p:nvPr/>
        </p:nvSpPr>
        <p:spPr>
          <a:xfrm>
            <a:off x="457200" y="868680"/>
            <a:ext cx="1371600" cy="45720"/>
          </a:xfrm>
          <a:prstGeom prst="rect">
            <a:avLst/>
          </a:prstGeom>
          <a:solidFill>
            <a:srgbClr val="C9A227"/>
          </a:solidFill>
          <a:ln/>
        </p:spPr>
      </p:sp>
      <p:sp>
        <p:nvSpPr>
          <p:cNvPr id="4" name="Shape 2"/>
          <p:cNvSpPr/>
          <p:nvPr/>
        </p:nvSpPr>
        <p:spPr>
          <a:xfrm>
            <a:off x="457200" y="1051560"/>
            <a:ext cx="8229600" cy="731520"/>
          </a:xfrm>
          <a:prstGeom prst="rect">
            <a:avLst/>
          </a:prstGeom>
          <a:solidFill>
            <a:srgbClr val="1E2761"/>
          </a:solidFill>
          <a:ln/>
        </p:spPr>
      </p:sp>
      <p:sp>
        <p:nvSpPr>
          <p:cNvPr id="5" name="Text 3"/>
          <p:cNvSpPr/>
          <p:nvPr/>
        </p:nvSpPr>
        <p:spPr>
          <a:xfrm>
            <a:off x="640080" y="1143000"/>
            <a:ext cx="786384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レック（lek）</a:t>
            </a:r>
            <a:pPr algn="ctr" indent="0" marL="0">
              <a:buNone/>
            </a:pPr>
            <a:r>
              <a:rPr lang="en-US" sz="1400" dirty="0">
                <a:solidFill>
                  <a:srgbClr val="FFFFFF"/>
                </a:solidFill>
                <a:latin typeface="Calibri" pitchFamily="34" charset="0"/>
                <a:ea typeface="Calibri" pitchFamily="34" charset="-122"/>
                <a:cs typeface="Calibri" pitchFamily="34" charset="-120"/>
              </a:rPr>
              <a:t>：雄が自分の遺伝的資質を雌に見せびらかす行動</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鳥のレッキング（求愛ディスプレイ）に由来</a:t>
            </a:r>
            <a:endParaRPr lang="en-US" sz="1400" dirty="0"/>
          </a:p>
        </p:txBody>
      </p:sp>
      <p:sp>
        <p:nvSpPr>
          <p:cNvPr id="6" name="Text 4"/>
          <p:cNvSpPr/>
          <p:nvPr/>
        </p:nvSpPr>
        <p:spPr>
          <a:xfrm>
            <a:off x="457200" y="1920240"/>
            <a:ext cx="822960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人間の男性によるレック行動の例：</a:t>
            </a:r>
            <a:endParaRPr lang="en-US" sz="1400" dirty="0"/>
          </a:p>
        </p:txBody>
      </p:sp>
      <p:sp>
        <p:nvSpPr>
          <p:cNvPr id="7" name="Shape 5"/>
          <p:cNvSpPr/>
          <p:nvPr/>
        </p:nvSpPr>
        <p:spPr>
          <a:xfrm>
            <a:off x="548640" y="2377440"/>
            <a:ext cx="228600" cy="228600"/>
          </a:xfrm>
          <a:prstGeom prst="ellipse">
            <a:avLst/>
          </a:prstGeom>
          <a:solidFill>
            <a:srgbClr val="C9A227"/>
          </a:solidFill>
          <a:ln/>
        </p:spPr>
      </p:sp>
      <p:sp>
        <p:nvSpPr>
          <p:cNvPr id="8" name="Text 6"/>
          <p:cNvSpPr/>
          <p:nvPr/>
        </p:nvSpPr>
        <p:spPr>
          <a:xfrm>
            <a:off x="914400" y="2331720"/>
            <a:ext cx="3657600" cy="3200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高級車を乗り回す</a:t>
            </a:r>
            <a:endParaRPr lang="en-US" sz="1300" dirty="0"/>
          </a:p>
        </p:txBody>
      </p:sp>
      <p:sp>
        <p:nvSpPr>
          <p:cNvPr id="9" name="Text 7"/>
          <p:cNvSpPr/>
          <p:nvPr/>
        </p:nvSpPr>
        <p:spPr>
          <a:xfrm>
            <a:off x="4572000" y="2331720"/>
            <a:ext cx="4114800" cy="320040"/>
          </a:xfrm>
          <a:prstGeom prst="rect">
            <a:avLst/>
          </a:prstGeom>
          <a:noFill/>
          <a:ln/>
        </p:spPr>
        <p:txBody>
          <a:bodyPr wrap="square" rtlCol="0" anchor="ctr"/>
          <a:lstStyle/>
          <a:p>
            <a:pPr indent="0" marL="0">
              <a:buNone/>
            </a:pPr>
            <a:r>
              <a:rPr lang="en-US" sz="1200" i="1" dirty="0">
                <a:solidFill>
                  <a:srgbClr val="1E2761"/>
                </a:solidFill>
                <a:latin typeface="Calibri" pitchFamily="34" charset="0"/>
                <a:ea typeface="Calibri" pitchFamily="34" charset="-122"/>
                <a:cs typeface="Calibri" pitchFamily="34" charset="-120"/>
              </a:rPr>
              <a:t>→ 経済力のシグナル</a:t>
            </a:r>
            <a:endParaRPr lang="en-US" sz="1200" dirty="0"/>
          </a:p>
        </p:txBody>
      </p:sp>
      <p:sp>
        <p:nvSpPr>
          <p:cNvPr id="10" name="Shape 8"/>
          <p:cNvSpPr/>
          <p:nvPr/>
        </p:nvSpPr>
        <p:spPr>
          <a:xfrm>
            <a:off x="548640" y="2834640"/>
            <a:ext cx="228600" cy="228600"/>
          </a:xfrm>
          <a:prstGeom prst="ellipse">
            <a:avLst/>
          </a:prstGeom>
          <a:solidFill>
            <a:srgbClr val="C9A227"/>
          </a:solidFill>
          <a:ln/>
        </p:spPr>
      </p:sp>
      <p:sp>
        <p:nvSpPr>
          <p:cNvPr id="11" name="Text 9"/>
          <p:cNvSpPr/>
          <p:nvPr/>
        </p:nvSpPr>
        <p:spPr>
          <a:xfrm>
            <a:off x="914400" y="2788920"/>
            <a:ext cx="3657600" cy="3200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高価な腕時計をする</a:t>
            </a:r>
            <a:endParaRPr lang="en-US" sz="1300" dirty="0"/>
          </a:p>
        </p:txBody>
      </p:sp>
      <p:sp>
        <p:nvSpPr>
          <p:cNvPr id="12" name="Text 10"/>
          <p:cNvSpPr/>
          <p:nvPr/>
        </p:nvSpPr>
        <p:spPr>
          <a:xfrm>
            <a:off x="4572000" y="2788920"/>
            <a:ext cx="4114800" cy="320040"/>
          </a:xfrm>
          <a:prstGeom prst="rect">
            <a:avLst/>
          </a:prstGeom>
          <a:noFill/>
          <a:ln/>
        </p:spPr>
        <p:txBody>
          <a:bodyPr wrap="square" rtlCol="0" anchor="ctr"/>
          <a:lstStyle/>
          <a:p>
            <a:pPr indent="0" marL="0">
              <a:buNone/>
            </a:pPr>
            <a:r>
              <a:rPr lang="en-US" sz="1200" i="1" dirty="0">
                <a:solidFill>
                  <a:srgbClr val="1E2761"/>
                </a:solidFill>
                <a:latin typeface="Calibri" pitchFamily="34" charset="0"/>
                <a:ea typeface="Calibri" pitchFamily="34" charset="-122"/>
                <a:cs typeface="Calibri" pitchFamily="34" charset="-120"/>
              </a:rPr>
              <a:t>→ 資源獲得能力の証明</a:t>
            </a:r>
            <a:endParaRPr lang="en-US" sz="1200" dirty="0"/>
          </a:p>
        </p:txBody>
      </p:sp>
      <p:sp>
        <p:nvSpPr>
          <p:cNvPr id="13" name="Shape 11"/>
          <p:cNvSpPr/>
          <p:nvPr/>
        </p:nvSpPr>
        <p:spPr>
          <a:xfrm>
            <a:off x="548640" y="3291840"/>
            <a:ext cx="228600" cy="228600"/>
          </a:xfrm>
          <a:prstGeom prst="ellipse">
            <a:avLst/>
          </a:prstGeom>
          <a:solidFill>
            <a:srgbClr val="C9A227"/>
          </a:solidFill>
          <a:ln/>
        </p:spPr>
      </p:sp>
      <p:sp>
        <p:nvSpPr>
          <p:cNvPr id="14" name="Text 12"/>
          <p:cNvSpPr/>
          <p:nvPr/>
        </p:nvSpPr>
        <p:spPr>
          <a:xfrm>
            <a:off x="914400" y="3246120"/>
            <a:ext cx="3657600" cy="3200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ブランド物のスーツを着る</a:t>
            </a:r>
            <a:endParaRPr lang="en-US" sz="1300" dirty="0"/>
          </a:p>
        </p:txBody>
      </p:sp>
      <p:sp>
        <p:nvSpPr>
          <p:cNvPr id="15" name="Text 13"/>
          <p:cNvSpPr/>
          <p:nvPr/>
        </p:nvSpPr>
        <p:spPr>
          <a:xfrm>
            <a:off x="4572000" y="3246120"/>
            <a:ext cx="4114800" cy="320040"/>
          </a:xfrm>
          <a:prstGeom prst="rect">
            <a:avLst/>
          </a:prstGeom>
          <a:noFill/>
          <a:ln/>
        </p:spPr>
        <p:txBody>
          <a:bodyPr wrap="square" rtlCol="0" anchor="ctr"/>
          <a:lstStyle/>
          <a:p>
            <a:pPr indent="0" marL="0">
              <a:buNone/>
            </a:pPr>
            <a:r>
              <a:rPr lang="en-US" sz="1200" i="1" dirty="0">
                <a:solidFill>
                  <a:srgbClr val="1E2761"/>
                </a:solidFill>
                <a:latin typeface="Calibri" pitchFamily="34" charset="0"/>
                <a:ea typeface="Calibri" pitchFamily="34" charset="-122"/>
                <a:cs typeface="Calibri" pitchFamily="34" charset="-120"/>
              </a:rPr>
              <a:t>→ 社会的地位の表示</a:t>
            </a:r>
            <a:endParaRPr lang="en-US" sz="1200" dirty="0"/>
          </a:p>
        </p:txBody>
      </p:sp>
      <p:sp>
        <p:nvSpPr>
          <p:cNvPr id="16" name="Shape 14"/>
          <p:cNvSpPr/>
          <p:nvPr/>
        </p:nvSpPr>
        <p:spPr>
          <a:xfrm>
            <a:off x="548640" y="3749040"/>
            <a:ext cx="228600" cy="228600"/>
          </a:xfrm>
          <a:prstGeom prst="ellipse">
            <a:avLst/>
          </a:prstGeom>
          <a:solidFill>
            <a:srgbClr val="C9A227"/>
          </a:solidFill>
          <a:ln/>
        </p:spPr>
      </p:sp>
      <p:sp>
        <p:nvSpPr>
          <p:cNvPr id="17" name="Text 15"/>
          <p:cNvSpPr/>
          <p:nvPr/>
        </p:nvSpPr>
        <p:spPr>
          <a:xfrm>
            <a:off x="914400" y="3703320"/>
            <a:ext cx="3657600" cy="3200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携帯電話やPDAを見せびらかす</a:t>
            </a:r>
            <a:endParaRPr lang="en-US" sz="1300" dirty="0"/>
          </a:p>
        </p:txBody>
      </p:sp>
      <p:sp>
        <p:nvSpPr>
          <p:cNvPr id="18" name="Text 16"/>
          <p:cNvSpPr/>
          <p:nvPr/>
        </p:nvSpPr>
        <p:spPr>
          <a:xfrm>
            <a:off x="4572000" y="3703320"/>
            <a:ext cx="4114800" cy="320040"/>
          </a:xfrm>
          <a:prstGeom prst="rect">
            <a:avLst/>
          </a:prstGeom>
          <a:noFill/>
          <a:ln/>
        </p:spPr>
        <p:txBody>
          <a:bodyPr wrap="square" rtlCol="0" anchor="ctr"/>
          <a:lstStyle/>
          <a:p>
            <a:pPr indent="0" marL="0">
              <a:buNone/>
            </a:pPr>
            <a:r>
              <a:rPr lang="en-US" sz="1200" i="1" dirty="0">
                <a:solidFill>
                  <a:srgbClr val="1E2761"/>
                </a:solidFill>
                <a:latin typeface="Calibri" pitchFamily="34" charset="0"/>
                <a:ea typeface="Calibri" pitchFamily="34" charset="-122"/>
                <a:cs typeface="Calibri" pitchFamily="34" charset="-120"/>
              </a:rPr>
              <a:t>→ （90年代後半の調査）</a:t>
            </a:r>
            <a:endParaRPr lang="en-US" sz="1200" dirty="0"/>
          </a:p>
        </p:txBody>
      </p:sp>
      <p:sp>
        <p:nvSpPr>
          <p:cNvPr id="19" name="Shape 17"/>
          <p:cNvSpPr/>
          <p:nvPr/>
        </p:nvSpPr>
        <p:spPr>
          <a:xfrm>
            <a:off x="548640" y="4206240"/>
            <a:ext cx="228600" cy="228600"/>
          </a:xfrm>
          <a:prstGeom prst="ellipse">
            <a:avLst/>
          </a:prstGeom>
          <a:solidFill>
            <a:srgbClr val="C9A227"/>
          </a:solidFill>
          <a:ln/>
        </p:spPr>
      </p:sp>
      <p:sp>
        <p:nvSpPr>
          <p:cNvPr id="20" name="Text 18"/>
          <p:cNvSpPr/>
          <p:nvPr/>
        </p:nvSpPr>
        <p:spPr>
          <a:xfrm>
            <a:off x="914400" y="4160520"/>
            <a:ext cx="3657600" cy="3200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音楽・美術・文学・科学の実績</a:t>
            </a:r>
            <a:endParaRPr lang="en-US" sz="1300" dirty="0"/>
          </a:p>
        </p:txBody>
      </p:sp>
      <p:sp>
        <p:nvSpPr>
          <p:cNvPr id="21" name="Text 19"/>
          <p:cNvSpPr/>
          <p:nvPr/>
        </p:nvSpPr>
        <p:spPr>
          <a:xfrm>
            <a:off x="4572000" y="4160520"/>
            <a:ext cx="4114800" cy="320040"/>
          </a:xfrm>
          <a:prstGeom prst="rect">
            <a:avLst/>
          </a:prstGeom>
          <a:noFill/>
          <a:ln/>
        </p:spPr>
        <p:txBody>
          <a:bodyPr wrap="square" rtlCol="0" anchor="ctr"/>
          <a:lstStyle/>
          <a:p>
            <a:pPr indent="0" marL="0">
              <a:buNone/>
            </a:pPr>
            <a:r>
              <a:rPr lang="en-US" sz="1200" i="1" dirty="0">
                <a:solidFill>
                  <a:srgbClr val="1E2761"/>
                </a:solidFill>
                <a:latin typeface="Calibri" pitchFamily="34" charset="0"/>
                <a:ea typeface="Calibri" pitchFamily="34" charset="-122"/>
                <a:cs typeface="Calibri" pitchFamily="34" charset="-120"/>
              </a:rPr>
              <a:t>→ 「文化的ディスプレイ」</a:t>
            </a:r>
            <a:endParaRPr lang="en-US" sz="1200" dirty="0"/>
          </a:p>
        </p:txBody>
      </p:sp>
      <p:sp>
        <p:nvSpPr>
          <p:cNvPr id="22" name="Shape 20"/>
          <p:cNvSpPr/>
          <p:nvPr/>
        </p:nvSpPr>
        <p:spPr>
          <a:xfrm>
            <a:off x="457200" y="4572000"/>
            <a:ext cx="8229600" cy="457200"/>
          </a:xfrm>
          <a:prstGeom prst="rect">
            <a:avLst/>
          </a:prstGeom>
          <a:solidFill>
            <a:srgbClr val="E8F4FC"/>
          </a:solidFill>
          <a:ln/>
        </p:spPr>
      </p:sp>
      <p:sp>
        <p:nvSpPr>
          <p:cNvPr id="23" name="Text 21"/>
          <p:cNvSpPr/>
          <p:nvPr/>
        </p:nvSpPr>
        <p:spPr>
          <a:xfrm>
            <a:off x="640080" y="4617720"/>
            <a:ext cx="7863840" cy="365760"/>
          </a:xfrm>
          <a:prstGeom prst="rect">
            <a:avLst/>
          </a:prstGeom>
          <a:noFill/>
          <a:ln/>
        </p:spPr>
        <p:txBody>
          <a:bodyPr wrap="square" rtlCol="0" anchor="ctr"/>
          <a:lstStyle/>
          <a:p>
            <a:pPr algn="ctr" indent="0" marL="0">
              <a:buNone/>
            </a:pPr>
            <a:r>
              <a:rPr lang="en-US" sz="1200" dirty="0">
                <a:solidFill>
                  <a:srgbClr val="333333"/>
                </a:solidFill>
                <a:latin typeface="Calibri" pitchFamily="34" charset="0"/>
                <a:ea typeface="Calibri" pitchFamily="34" charset="-122"/>
                <a:cs typeface="Calibri" pitchFamily="34" charset="-120"/>
              </a:rPr>
              <a:t>若い男性は潜在的な配偶者に自分をアピールするため、レック行動に多くの時間と資源を費やす</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第8章のまとめ</a:t>
            </a:r>
            <a:endParaRPr lang="en-US" sz="2800" dirty="0"/>
          </a:p>
        </p:txBody>
      </p:sp>
      <p:sp>
        <p:nvSpPr>
          <p:cNvPr id="3" name="Shape 1"/>
          <p:cNvSpPr/>
          <p:nvPr/>
        </p:nvSpPr>
        <p:spPr>
          <a:xfrm>
            <a:off x="457200" y="868680"/>
            <a:ext cx="1371600" cy="45720"/>
          </a:xfrm>
          <a:prstGeom prst="rect">
            <a:avLst/>
          </a:prstGeom>
          <a:solidFill>
            <a:srgbClr val="C9A227"/>
          </a:solidFill>
          <a:ln/>
        </p:spPr>
      </p:sp>
      <p:sp>
        <p:nvSpPr>
          <p:cNvPr id="4" name="Shape 2"/>
          <p:cNvSpPr/>
          <p:nvPr/>
        </p:nvSpPr>
        <p:spPr>
          <a:xfrm>
            <a:off x="457200" y="1097280"/>
            <a:ext cx="457200" cy="457200"/>
          </a:xfrm>
          <a:prstGeom prst="ellipse">
            <a:avLst/>
          </a:prstGeom>
          <a:solidFill>
            <a:srgbClr val="1E2761"/>
          </a:solidFill>
          <a:ln/>
        </p:spPr>
      </p:sp>
      <p:sp>
        <p:nvSpPr>
          <p:cNvPr id="5" name="Text 3"/>
          <p:cNvSpPr/>
          <p:nvPr/>
        </p:nvSpPr>
        <p:spPr>
          <a:xfrm>
            <a:off x="45720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6" name="Text 4"/>
          <p:cNvSpPr/>
          <p:nvPr/>
        </p:nvSpPr>
        <p:spPr>
          <a:xfrm>
            <a:off x="1051560" y="1097280"/>
            <a:ext cx="758952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宗教の起源</a:t>
            </a:r>
            <a:endParaRPr lang="en-US" sz="1400" dirty="0"/>
          </a:p>
        </p:txBody>
      </p:sp>
      <p:sp>
        <p:nvSpPr>
          <p:cNvPr id="7" name="Text 5"/>
          <p:cNvSpPr/>
          <p:nvPr/>
        </p:nvSpPr>
        <p:spPr>
          <a:xfrm>
            <a:off x="1051560" y="1417320"/>
            <a:ext cx="7589520" cy="45720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過剰に「意図」を読み取る心理（タイプ1の誤り）が進化的に有利だったことが宗教の起源</a:t>
            </a:r>
            <a:endParaRPr lang="en-US" sz="1200" dirty="0"/>
          </a:p>
        </p:txBody>
      </p:sp>
      <p:sp>
        <p:nvSpPr>
          <p:cNvPr id="8" name="Shape 6"/>
          <p:cNvSpPr/>
          <p:nvPr/>
        </p:nvSpPr>
        <p:spPr>
          <a:xfrm>
            <a:off x="457200" y="2057400"/>
            <a:ext cx="457200" cy="457200"/>
          </a:xfrm>
          <a:prstGeom prst="ellipse">
            <a:avLst/>
          </a:prstGeom>
          <a:solidFill>
            <a:srgbClr val="1E2761"/>
          </a:solidFill>
          <a:ln/>
        </p:spPr>
      </p:sp>
      <p:sp>
        <p:nvSpPr>
          <p:cNvPr id="9" name="Text 7"/>
          <p:cNvSpPr/>
          <p:nvPr/>
        </p:nvSpPr>
        <p:spPr>
          <a:xfrm>
            <a:off x="457200" y="2057400"/>
            <a:ext cx="45720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0" name="Text 8"/>
          <p:cNvSpPr/>
          <p:nvPr/>
        </p:nvSpPr>
        <p:spPr>
          <a:xfrm>
            <a:off x="1051560" y="2057400"/>
            <a:ext cx="758952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信心深さの性差</a:t>
            </a:r>
            <a:endParaRPr lang="en-US" sz="1400" dirty="0"/>
          </a:p>
        </p:txBody>
      </p:sp>
      <p:sp>
        <p:nvSpPr>
          <p:cNvPr id="11" name="Text 9"/>
          <p:cNvSpPr/>
          <p:nvPr/>
        </p:nvSpPr>
        <p:spPr>
          <a:xfrm>
            <a:off x="1051560" y="2377440"/>
            <a:ext cx="7589520" cy="45720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女性がより信心深いのは、リスク回避的な傾向の表れ（普遍的パターン）</a:t>
            </a:r>
            <a:endParaRPr lang="en-US" sz="1200" dirty="0"/>
          </a:p>
        </p:txBody>
      </p:sp>
      <p:sp>
        <p:nvSpPr>
          <p:cNvPr id="12" name="Shape 10"/>
          <p:cNvSpPr/>
          <p:nvPr/>
        </p:nvSpPr>
        <p:spPr>
          <a:xfrm>
            <a:off x="457200" y="3017520"/>
            <a:ext cx="457200" cy="457200"/>
          </a:xfrm>
          <a:prstGeom prst="ellipse">
            <a:avLst/>
          </a:prstGeom>
          <a:solidFill>
            <a:srgbClr val="1E2761"/>
          </a:solidFill>
          <a:ln/>
        </p:spPr>
      </p:sp>
      <p:sp>
        <p:nvSpPr>
          <p:cNvPr id="13" name="Text 11"/>
          <p:cNvSpPr/>
          <p:nvPr/>
        </p:nvSpPr>
        <p:spPr>
          <a:xfrm>
            <a:off x="457200" y="3017520"/>
            <a:ext cx="45720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4" name="Text 12"/>
          <p:cNvSpPr/>
          <p:nvPr/>
        </p:nvSpPr>
        <p:spPr>
          <a:xfrm>
            <a:off x="1051560" y="3017520"/>
            <a:ext cx="758952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自爆テロの心理</a:t>
            </a:r>
            <a:endParaRPr lang="en-US" sz="1400" dirty="0"/>
          </a:p>
        </p:txBody>
      </p:sp>
      <p:sp>
        <p:nvSpPr>
          <p:cNvPr id="15" name="Text 13"/>
          <p:cNvSpPr/>
          <p:nvPr/>
        </p:nvSpPr>
        <p:spPr>
          <a:xfrm>
            <a:off x="1051560" y="3337560"/>
            <a:ext cx="7589520" cy="45720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一夫多妻制社会で配偶者を得られない男性の極端なリスクテイキング行動</a:t>
            </a:r>
            <a:endParaRPr lang="en-US" sz="1200" dirty="0"/>
          </a:p>
        </p:txBody>
      </p:sp>
      <p:sp>
        <p:nvSpPr>
          <p:cNvPr id="16" name="Shape 14"/>
          <p:cNvSpPr/>
          <p:nvPr/>
        </p:nvSpPr>
        <p:spPr>
          <a:xfrm>
            <a:off x="457200" y="3977640"/>
            <a:ext cx="457200" cy="457200"/>
          </a:xfrm>
          <a:prstGeom prst="ellipse">
            <a:avLst/>
          </a:prstGeom>
          <a:solidFill>
            <a:srgbClr val="1E2761"/>
          </a:solidFill>
          <a:ln/>
        </p:spPr>
      </p:sp>
      <p:sp>
        <p:nvSpPr>
          <p:cNvPr id="17" name="Text 15"/>
          <p:cNvSpPr/>
          <p:nvPr/>
        </p:nvSpPr>
        <p:spPr>
          <a:xfrm>
            <a:off x="457200" y="3977640"/>
            <a:ext cx="45720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8" name="Text 16"/>
          <p:cNvSpPr/>
          <p:nvPr/>
        </p:nvSpPr>
        <p:spPr>
          <a:xfrm>
            <a:off x="1051560" y="3977640"/>
            <a:ext cx="758952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民族紛争の根源</a:t>
            </a:r>
            <a:endParaRPr lang="en-US" sz="1400" dirty="0"/>
          </a:p>
        </p:txBody>
      </p:sp>
      <p:sp>
        <p:nvSpPr>
          <p:cNvPr id="19" name="Text 17"/>
          <p:cNvSpPr/>
          <p:nvPr/>
        </p:nvSpPr>
        <p:spPr>
          <a:xfrm>
            <a:off x="1051560" y="4297680"/>
            <a:ext cx="7589520" cy="45720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自民族中心主義は生得的であり、「内輪」優遇・「よそ者」排除の傾向は進化的適応</a:t>
            </a:r>
            <a:endParaRPr lang="en-US" sz="1200" dirty="0"/>
          </a:p>
        </p:txBody>
      </p:sp>
      <p:sp>
        <p:nvSpPr>
          <p:cNvPr id="20" name="Shape 18"/>
          <p:cNvSpPr/>
          <p:nvPr/>
        </p:nvSpPr>
        <p:spPr>
          <a:xfrm>
            <a:off x="457200" y="4663440"/>
            <a:ext cx="8229600" cy="365760"/>
          </a:xfrm>
          <a:prstGeom prst="rect">
            <a:avLst/>
          </a:prstGeom>
          <a:solidFill>
            <a:srgbClr val="E8F4FC"/>
          </a:solidFill>
          <a:ln/>
        </p:spPr>
      </p:sp>
      <p:sp>
        <p:nvSpPr>
          <p:cNvPr id="21" name="Text 19"/>
          <p:cNvSpPr/>
          <p:nvPr/>
        </p:nvSpPr>
        <p:spPr>
          <a:xfrm>
            <a:off x="640080" y="4709160"/>
            <a:ext cx="7863840" cy="274320"/>
          </a:xfrm>
          <a:prstGeom prst="rect">
            <a:avLst/>
          </a:prstGeom>
          <a:noFill/>
          <a:ln/>
        </p:spPr>
        <p:txBody>
          <a:bodyPr wrap="square" rtlCol="0" anchor="ctr"/>
          <a:lstStyle/>
          <a:p>
            <a:pPr algn="ctr" indent="0" marL="0">
              <a:buNone/>
            </a:pPr>
            <a:r>
              <a:rPr lang="en-US" sz="1100" i="1" dirty="0">
                <a:solidFill>
                  <a:srgbClr val="1E2761"/>
                </a:solidFill>
                <a:latin typeface="Calibri" pitchFamily="34" charset="0"/>
                <a:ea typeface="Calibri" pitchFamily="34" charset="-122"/>
                <a:cs typeface="Calibri" pitchFamily="34" charset="-120"/>
              </a:rPr>
              <a:t>進化心理学は「説明」を提供するが、それは「正当化」ではない（自然主義的誤謬に注意）</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algn="ctr" indent="0" marL="0">
              <a:buNone/>
            </a:pPr>
            <a:r>
              <a:rPr lang="en-US" sz="3200" b="1" dirty="0">
                <a:solidFill>
                  <a:srgbClr val="FFFFFF"/>
                </a:solidFill>
                <a:latin typeface="Georgia" pitchFamily="34" charset="0"/>
                <a:ea typeface="Georgia" pitchFamily="34" charset="-122"/>
                <a:cs typeface="Georgia" pitchFamily="34" charset="-120"/>
              </a:rPr>
              <a:t>ディスカッション</a:t>
            </a:r>
            <a:endParaRPr lang="en-US" sz="3200" dirty="0"/>
          </a:p>
        </p:txBody>
      </p:sp>
      <p:sp>
        <p:nvSpPr>
          <p:cNvPr id="3" name="Shape 1"/>
          <p:cNvSpPr/>
          <p:nvPr/>
        </p:nvSpPr>
        <p:spPr>
          <a:xfrm>
            <a:off x="3200400" y="1005840"/>
            <a:ext cx="2743200" cy="36576"/>
          </a:xfrm>
          <a:prstGeom prst="rect">
            <a:avLst/>
          </a:prstGeom>
          <a:solidFill>
            <a:srgbClr val="C9A227"/>
          </a:solidFill>
          <a:ln/>
        </p:spPr>
      </p:sp>
      <p:sp>
        <p:nvSpPr>
          <p:cNvPr id="4" name="Shape 2"/>
          <p:cNvSpPr/>
          <p:nvPr/>
        </p:nvSpPr>
        <p:spPr>
          <a:xfrm>
            <a:off x="640080" y="1371600"/>
            <a:ext cx="7863840" cy="731520"/>
          </a:xfrm>
          <a:prstGeom prst="rect">
            <a:avLst/>
          </a:prstGeom>
          <a:solidFill>
            <a:srgbClr val="FFFFFF"/>
          </a:solidFill>
          <a:ln w="12700">
            <a:solidFill>
              <a:srgbClr val="C9A227"/>
            </a:solidFill>
            <a:prstDash val="solid"/>
          </a:ln>
        </p:spPr>
      </p:sp>
      <p:sp>
        <p:nvSpPr>
          <p:cNvPr id="5" name="Text 3"/>
          <p:cNvSpPr/>
          <p:nvPr/>
        </p:nvSpPr>
        <p:spPr>
          <a:xfrm>
            <a:off x="822960" y="1554480"/>
            <a:ext cx="457200" cy="365760"/>
          </a:xfrm>
          <a:prstGeom prst="rect">
            <a:avLst/>
          </a:prstGeom>
          <a:noFill/>
          <a:ln/>
        </p:spPr>
        <p:txBody>
          <a:bodyPr wrap="square"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Q1</a:t>
            </a:r>
            <a:endParaRPr lang="en-US" sz="1400" dirty="0"/>
          </a:p>
        </p:txBody>
      </p:sp>
      <p:sp>
        <p:nvSpPr>
          <p:cNvPr id="6" name="Text 4"/>
          <p:cNvSpPr/>
          <p:nvPr/>
        </p:nvSpPr>
        <p:spPr>
          <a:xfrm>
            <a:off x="1371600" y="1508760"/>
            <a:ext cx="6858000" cy="45720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宗教は「進化の副産物」なのか、それとも適応的な機能を持つのか？</a:t>
            </a:r>
            <a:endParaRPr lang="en-US" sz="1300" dirty="0"/>
          </a:p>
        </p:txBody>
      </p:sp>
      <p:sp>
        <p:nvSpPr>
          <p:cNvPr id="7" name="Shape 5"/>
          <p:cNvSpPr/>
          <p:nvPr/>
        </p:nvSpPr>
        <p:spPr>
          <a:xfrm>
            <a:off x="640080" y="2240280"/>
            <a:ext cx="7863840" cy="731520"/>
          </a:xfrm>
          <a:prstGeom prst="rect">
            <a:avLst/>
          </a:prstGeom>
          <a:solidFill>
            <a:srgbClr val="FFFFFF"/>
          </a:solidFill>
          <a:ln w="12700">
            <a:solidFill>
              <a:srgbClr val="C9A227"/>
            </a:solidFill>
            <a:prstDash val="solid"/>
          </a:ln>
        </p:spPr>
      </p:sp>
      <p:sp>
        <p:nvSpPr>
          <p:cNvPr id="8" name="Text 6"/>
          <p:cNvSpPr/>
          <p:nvPr/>
        </p:nvSpPr>
        <p:spPr>
          <a:xfrm>
            <a:off x="822960" y="2423160"/>
            <a:ext cx="457200" cy="365760"/>
          </a:xfrm>
          <a:prstGeom prst="rect">
            <a:avLst/>
          </a:prstGeom>
          <a:noFill/>
          <a:ln/>
        </p:spPr>
        <p:txBody>
          <a:bodyPr wrap="square"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Q2</a:t>
            </a:r>
            <a:endParaRPr lang="en-US" sz="1400" dirty="0"/>
          </a:p>
        </p:txBody>
      </p:sp>
      <p:sp>
        <p:nvSpPr>
          <p:cNvPr id="9" name="Text 7"/>
          <p:cNvSpPr/>
          <p:nvPr/>
        </p:nvSpPr>
        <p:spPr>
          <a:xfrm>
            <a:off x="1371600" y="2377440"/>
            <a:ext cx="6858000" cy="45720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自民族中心主義が生得的だとして、それを乗り越える方法はあるか？</a:t>
            </a:r>
            <a:endParaRPr lang="en-US" sz="1300" dirty="0"/>
          </a:p>
        </p:txBody>
      </p:sp>
      <p:sp>
        <p:nvSpPr>
          <p:cNvPr id="10" name="Shape 8"/>
          <p:cNvSpPr/>
          <p:nvPr/>
        </p:nvSpPr>
        <p:spPr>
          <a:xfrm>
            <a:off x="640080" y="3108960"/>
            <a:ext cx="7863840" cy="731520"/>
          </a:xfrm>
          <a:prstGeom prst="rect">
            <a:avLst/>
          </a:prstGeom>
          <a:solidFill>
            <a:srgbClr val="FFFFFF"/>
          </a:solidFill>
          <a:ln w="12700">
            <a:solidFill>
              <a:srgbClr val="C9A227"/>
            </a:solidFill>
            <a:prstDash val="solid"/>
          </a:ln>
        </p:spPr>
      </p:sp>
      <p:sp>
        <p:nvSpPr>
          <p:cNvPr id="11" name="Text 9"/>
          <p:cNvSpPr/>
          <p:nvPr/>
        </p:nvSpPr>
        <p:spPr>
          <a:xfrm>
            <a:off x="822960" y="3291840"/>
            <a:ext cx="457200" cy="365760"/>
          </a:xfrm>
          <a:prstGeom prst="rect">
            <a:avLst/>
          </a:prstGeom>
          <a:noFill/>
          <a:ln/>
        </p:spPr>
        <p:txBody>
          <a:bodyPr wrap="square"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Q3</a:t>
            </a:r>
            <a:endParaRPr lang="en-US" sz="1400" dirty="0"/>
          </a:p>
        </p:txBody>
      </p:sp>
      <p:sp>
        <p:nvSpPr>
          <p:cNvPr id="12" name="Text 10"/>
          <p:cNvSpPr/>
          <p:nvPr/>
        </p:nvSpPr>
        <p:spPr>
          <a:xfrm>
            <a:off x="1371600" y="3246120"/>
            <a:ext cx="6858000" cy="45720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一夫多妻制と暴力・テロの関係は、政策的にどう扱うべきか？</a:t>
            </a:r>
            <a:endParaRPr lang="en-US" sz="1300" dirty="0"/>
          </a:p>
        </p:txBody>
      </p:sp>
      <p:sp>
        <p:nvSpPr>
          <p:cNvPr id="13" name="Shape 11"/>
          <p:cNvSpPr/>
          <p:nvPr/>
        </p:nvSpPr>
        <p:spPr>
          <a:xfrm>
            <a:off x="640080" y="3977640"/>
            <a:ext cx="7863840" cy="731520"/>
          </a:xfrm>
          <a:prstGeom prst="rect">
            <a:avLst/>
          </a:prstGeom>
          <a:solidFill>
            <a:srgbClr val="FFFFFF"/>
          </a:solidFill>
          <a:ln w="12700">
            <a:solidFill>
              <a:srgbClr val="C9A227"/>
            </a:solidFill>
            <a:prstDash val="solid"/>
          </a:ln>
        </p:spPr>
      </p:sp>
      <p:sp>
        <p:nvSpPr>
          <p:cNvPr id="14" name="Text 12"/>
          <p:cNvSpPr/>
          <p:nvPr/>
        </p:nvSpPr>
        <p:spPr>
          <a:xfrm>
            <a:off x="822960" y="4160520"/>
            <a:ext cx="457200" cy="365760"/>
          </a:xfrm>
          <a:prstGeom prst="rect">
            <a:avLst/>
          </a:prstGeom>
          <a:noFill/>
          <a:ln/>
        </p:spPr>
        <p:txBody>
          <a:bodyPr wrap="square"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Q4</a:t>
            </a:r>
            <a:endParaRPr lang="en-US" sz="1400" dirty="0"/>
          </a:p>
        </p:txBody>
      </p:sp>
      <p:sp>
        <p:nvSpPr>
          <p:cNvPr id="15" name="Text 13"/>
          <p:cNvSpPr/>
          <p:nvPr/>
        </p:nvSpPr>
        <p:spPr>
          <a:xfrm>
            <a:off x="1371600" y="4114800"/>
            <a:ext cx="6858000" cy="45720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進化心理学的説明は、宗教や紛争の「理解」にどう役立つか？</a:t>
            </a:r>
            <a:endParaRPr lang="en-US" sz="1300" dirty="0"/>
          </a:p>
        </p:txBody>
      </p:sp>
      <p:sp>
        <p:nvSpPr>
          <p:cNvPr id="16" name="Text 14"/>
          <p:cNvSpPr/>
          <p:nvPr/>
        </p:nvSpPr>
        <p:spPr>
          <a:xfrm>
            <a:off x="457200" y="4663440"/>
            <a:ext cx="8229600" cy="365760"/>
          </a:xfrm>
          <a:prstGeom prst="rect">
            <a:avLst/>
          </a:prstGeom>
          <a:noFill/>
          <a:ln/>
        </p:spPr>
        <p:txBody>
          <a:bodyPr wrap="square" rtlCol="0" anchor="ctr"/>
          <a:lstStyle/>
          <a:p>
            <a:pPr algn="ctr" indent="0" marL="0">
              <a:buNone/>
            </a:pPr>
            <a:r>
              <a:rPr lang="en-US" sz="1400" i="1" dirty="0">
                <a:solidFill>
                  <a:srgbClr val="C9A227"/>
                </a:solidFill>
                <a:latin typeface="Georgia" pitchFamily="34" charset="0"/>
                <a:ea typeface="Georgia" pitchFamily="34" charset="-122"/>
                <a:cs typeface="Georgia" pitchFamily="34" charset="-120"/>
              </a:rPr>
              <a:t>ご清聴ありがとうございました</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第8章 善きもの悪しきもの、醜悪なるもの</dc:title>
  <dc:subject>PptxGenJS Presentation</dc:subject>
  <dc:creator>Claude</dc:creator>
  <cp:lastModifiedBy>Claude</cp:lastModifiedBy>
  <cp:revision>1</cp:revision>
  <dcterms:created xsi:type="dcterms:W3CDTF">2026-01-28T04:31:27Z</dcterms:created>
  <dcterms:modified xsi:type="dcterms:W3CDTF">2026-01-28T04:31:27Z</dcterms:modified>
</cp:coreProperties>
</file>